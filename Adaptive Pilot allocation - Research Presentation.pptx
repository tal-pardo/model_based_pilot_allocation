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67" r:id="rId14"/>
    <p:sldId id="268" r:id="rId15"/>
    <p:sldId id="278" r:id="rId16"/>
    <p:sldId id="269" r:id="rId17"/>
    <p:sldId id="270" r:id="rId18"/>
    <p:sldId id="271" r:id="rId19"/>
    <p:sldId id="272" r:id="rId20"/>
    <p:sldId id="273" r:id="rId21"/>
    <p:sldId id="274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55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thank you all for being here. Over the next 25 minutes I'll walk through the pilot placement problem, the model-based approach we've built, what the experiments taught us, where a prior learned CNN approach fell short, and a proposal for a deep RL agent to take this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C6DF-B50B-B41C-F9C4-11B45EED9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91768-63E4-6144-9A63-905914D1E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BF55F-649E-CE18-4701-C3C2997D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77250-EAE1-5977-4BA8-7B2E4FBF2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4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to go deeper on any of the open questions: the mismatched-prior parameterization, the sigma-free observation design, or the channel screening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0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8223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26514"/>
            <a:ext cx="10566400" cy="45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0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82230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26514"/>
            <a:ext cx="10566400" cy="45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50" dirty="0">
                <a:solidFill>
                  <a:srgbClr val="8FD0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GRADUATE RESEARCH REVIEW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86127"/>
            <a:ext cx="9810750" cy="12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30"/>
              </a:lnSpc>
              <a:buNone/>
            </a:pPr>
            <a:r>
              <a:rPr lang="en-US" sz="4300" b="0" i="0" dirty="0">
                <a:solidFill>
                  <a:srgbClr val="F5F3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Adaptive Pilot Placement for OFDM Channel Estimation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8128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541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2954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5367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8FD0C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17780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20193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22606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25019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27432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29845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32258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34671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8FD0C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37084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39497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41910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4323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6736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9149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51562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53975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6388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8801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8FD0C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61214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6362700" y="5384800"/>
            <a:ext cx="177800" cy="35560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812800" y="58991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990600" y="5867400"/>
            <a:ext cx="105132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subcarrier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44502" y="58991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8FD0C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2222302" y="5867400"/>
            <a:ext cx="104354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 subcarrier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4310" y="2486312"/>
            <a:ext cx="255929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 Pardo · Prof. Tirza </a:t>
            </a:r>
            <a:r>
              <a:rPr lang="en-US" sz="1100" dirty="0" err="1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Routtenberg</a:t>
            </a:r>
            <a:r>
              <a:rPr lang="en-US" sz="110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Prof. </a:t>
            </a:r>
            <a:r>
              <a:rPr lang="en-US" sz="11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Nir </a:t>
            </a:r>
            <a:r>
              <a:rPr lang="en-US" sz="1100" dirty="0" err="1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Shlezinger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58925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812800" y="1737784"/>
            <a:ext cx="558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B615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74800" y="1808890"/>
            <a:ext cx="197381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formulation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309879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12800" y="2488737"/>
            <a:ext cx="558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B615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74800" y="2559844"/>
            <a:ext cx="46152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model-based algorithm under a known prior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060833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12800" y="3239691"/>
            <a:ext cx="558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B615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74800" y="3310798"/>
            <a:ext cx="327596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takeaways from experiments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811786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12800" y="3990645"/>
            <a:ext cx="558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B615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74800" y="4061751"/>
            <a:ext cx="183086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CNN MSE predictor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562740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812800" y="5311577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12800" y="4741598"/>
            <a:ext cx="558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B615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74800" y="4812705"/>
            <a:ext cx="603321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Proposal: a deep reinforcement-learning pilot-placement agent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50" dirty="0">
                <a:solidFill>
                  <a:srgbClr val="2B61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1 · PROBLEM FORMULATION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46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Why pilot placement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936750"/>
            <a:ext cx="68021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Pilots consume spectrum that could otherwise carry data — every pilot subcarrier is overhead, not payload.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584450"/>
            <a:ext cx="68021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Channel estimation accuracy depends on both </a:t>
            </a: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pilots are used and </a:t>
            </a: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they are placed.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232150"/>
            <a:ext cx="68021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standard baseline is fixed, uniformly-spaced pilots: simple, but blind to the actual channel.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879850"/>
            <a:ext cx="68021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talk asks: can placement be adaptive — and eventually learned — to spend that overhead more efficiently?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26375" y="1939925"/>
            <a:ext cx="3549650" cy="1797844"/>
          </a:xfrm>
          <a:prstGeom prst="roundRect">
            <a:avLst>
              <a:gd name="adj" fmla="val 5475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081434" y="2194984"/>
            <a:ext cx="313071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Fixed, uniform pilot placement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14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82973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85132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87291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89450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91609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93768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95927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98086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00245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02404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0456334" y="2517511"/>
            <a:ext cx="165100" cy="304800"/>
          </a:xfrm>
          <a:prstGeom prst="roundRect">
            <a:avLst>
              <a:gd name="adj" fmla="val 11538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081434" y="2949311"/>
            <a:ext cx="313071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spacing every time, regardless of the channel — wasteful when correlation structure means some subcarriers reveal far more than others.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System model</a:t>
            </a:r>
            <a:endParaRPr lang="en-US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812800" y="1504950"/>
                <a:ext cx="6802120" cy="5207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300" dirty="0">
                    <a:solidFill>
                      <a:srgbClr val="4A556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MIMO-OFDM channel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𝑁</m:t>
                        </m:r>
                      </m:e>
                      <m:sub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4A556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 antennas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𝑁</m:t>
                        </m:r>
                      </m:e>
                      <m:sub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4A556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 subcarriers, vectorized column-by-subcarrier as </a:t>
                </a:r>
                <a14:m>
                  <m:oMath xmlns:m="http://schemas.openxmlformats.org/officeDocument/2006/math">
                    <m:r>
                      <a:rPr lang="en-US" sz="1300" b="1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𝒉</m:t>
                    </m:r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=</m:t>
                    </m:r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𝑣𝑒𝑐</m:t>
                    </m:r>
                    <m:d>
                      <m:dPr>
                        <m:ctrlPr>
                          <a:rPr lang="en-US" sz="1300" b="1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dPr>
                      <m:e>
                        <m:r>
                          <a:rPr lang="en-US" sz="1300" b="1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𝑯</m:t>
                        </m:r>
                      </m:e>
                    </m:d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∈</m:t>
                    </m:r>
                    <m:sSup>
                      <m:sSupPr>
                        <m:ctrlP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ℂ</m:t>
                        </m:r>
                      </m:e>
                      <m:sup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𝑁</m:t>
                        </m:r>
                      </m:sup>
                    </m:sSup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 ;</m:t>
                    </m:r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𝑁</m:t>
                    </m:r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=</m:t>
                    </m:r>
                    <m:sSub>
                      <m:sSubPr>
                        <m:ctrlP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𝑁</m:t>
                        </m:r>
                      </m:e>
                      <m:sub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𝑎</m:t>
                        </m:r>
                      </m:sub>
                    </m:sSub>
                    <m:r>
                      <a:rPr lang="en-US" sz="1300" b="0" i="1" smtClean="0">
                        <a:solidFill>
                          <a:srgbClr val="4A556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∙</m:t>
                    </m:r>
                    <m:sSub>
                      <m:sSubPr>
                        <m:ctrlP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𝑁</m:t>
                        </m:r>
                      </m:e>
                      <m:sub>
                        <m:r>
                          <a:rPr lang="en-US" sz="1300" b="0" i="1" smtClean="0">
                            <a:solidFill>
                              <a:srgbClr val="4A5568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300" dirty="0"/>
                  <a:t>.</a:t>
                </a:r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504950"/>
                <a:ext cx="6802120" cy="520700"/>
              </a:xfrm>
              <a:prstGeom prst="rect">
                <a:avLst/>
              </a:prstGeom>
              <a:blipFill>
                <a:blip r:embed="rId3"/>
                <a:stretch>
                  <a:fillRect l="-1434" t="-4706" b="-11765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2"/>
          <p:cNvSpPr/>
          <p:nvPr/>
        </p:nvSpPr>
        <p:spPr>
          <a:xfrm>
            <a:off x="812800" y="2139950"/>
            <a:ext cx="68021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step measures one new, not-yet-piloted subcarrier k: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815975" y="2530475"/>
                <a:ext cx="6597650" cy="588830"/>
              </a:xfrm>
              <a:prstGeom prst="roundRect">
                <a:avLst>
                  <a:gd name="adj" fmla="val 12402"/>
                </a:avLst>
              </a:prstGeom>
              <a:solidFill>
                <a:srgbClr val="FFFFFF"/>
              </a:solidFill>
              <a:ln w="6350">
                <a:solidFill>
                  <a:srgbClr val="E3E6E4"/>
                </a:solidFill>
                <a:prstDash val="solid"/>
              </a:ln>
            </p:spPr>
            <p:txBody>
              <a:bodyPr wrap="square" lIns="182870" tIns="157470" rIns="0" bIns="132070" rtlCol="0" anchor="t">
                <a:normAutofit/>
              </a:bodyPr>
              <a:lstStyle/>
              <a:p>
                <a:pPr marL="0" indent="0" algn="l">
                  <a:lnSpc>
                    <a:spcPts val="182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𝒚</m:t>
                          </m:r>
                        </m:e>
                        <m:sub>
                          <m: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𝒕</m:t>
                          </m:r>
                        </m:sub>
                      </m:sSub>
                      <m:r>
                        <a:rPr lang="en-US" sz="1300" b="0" i="1" smtClean="0">
                          <a:solidFill>
                            <a:srgbClr val="182230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𝑿</m:t>
                          </m:r>
                        </m:e>
                        <m:sub>
                          <m: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𝒕</m:t>
                          </m:r>
                        </m:sub>
                      </m:sSub>
                      <m:r>
                        <a:rPr lang="en-US" sz="1300" b="1" i="1" smtClean="0">
                          <a:solidFill>
                            <a:srgbClr val="182230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𝒉</m:t>
                      </m:r>
                      <m:r>
                        <a:rPr lang="en-US" sz="1300" b="0" i="1" smtClean="0">
                          <a:solidFill>
                            <a:srgbClr val="182230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𝒏</m:t>
                          </m:r>
                        </m:e>
                        <m:sub>
                          <m:r>
                            <a:rPr lang="en-US" sz="1300" b="1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𝒕</m:t>
                          </m:r>
                        </m:sub>
                      </m:sSub>
                      <m:r>
                        <a:rPr lang="en-US" sz="1300" b="0" i="1" smtClean="0">
                          <a:solidFill>
                            <a:srgbClr val="182230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  ;  </m:t>
                      </m:r>
                      <m:sSub>
                        <m:sSubPr>
                          <m:ctrlPr>
                            <a:rPr lang="en-US" sz="1300" b="0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300" b="0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𝑛</m:t>
                          </m:r>
                        </m:e>
                        <m:sub>
                          <m:r>
                            <a:rPr lang="en-US" sz="1300" b="0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1300" b="0" i="1" smtClean="0">
                          <a:solidFill>
                            <a:srgbClr val="182230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∈</m:t>
                      </m:r>
                      <m:r>
                        <a:rPr lang="en-US" sz="1300" b="0" i="1" smtClean="0">
                          <a:solidFill>
                            <a:srgbClr val="182230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𝒞𝒩</m:t>
                      </m:r>
                      <m:d>
                        <m:dPr>
                          <m:ctrlPr>
                            <a:rPr lang="en-US" sz="1300" b="0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dPr>
                        <m:e>
                          <m:r>
                            <a:rPr lang="en-US" sz="1300" b="0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sz="1300" b="0" i="1" smtClean="0">
                                  <a:solidFill>
                                    <a:srgbClr val="182230"/>
                                  </a:solidFill>
                                  <a:latin typeface="Cambria Math" panose="02040503050406030204" pitchFamily="18" charset="0"/>
                                  <a:ea typeface="IBM Plex Sans" pitchFamily="34" charset="-122"/>
                                  <a:cs typeface="IBM Plex 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1300" b="0" i="1" smtClean="0">
                                  <a:solidFill>
                                    <a:srgbClr val="182230"/>
                                  </a:solidFill>
                                  <a:latin typeface="Cambria Math" panose="02040503050406030204" pitchFamily="18" charset="0"/>
                                  <a:ea typeface="IBM Plex Sans" pitchFamily="34" charset="-122"/>
                                  <a:cs typeface="IBM Plex Sans" pitchFamily="34" charset="-12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300" b="0" i="1" smtClean="0">
                                  <a:solidFill>
                                    <a:srgbClr val="182230"/>
                                  </a:solidFill>
                                  <a:latin typeface="Cambria Math" panose="02040503050406030204" pitchFamily="18" charset="0"/>
                                  <a:ea typeface="IBM Plex Sans" pitchFamily="34" charset="-122"/>
                                  <a:cs typeface="IBM Plex Sans" pitchFamily="34" charset="-12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300" b="0" i="1" smtClean="0">
                              <a:solidFill>
                                <a:srgbClr val="182230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75" y="2530475"/>
                <a:ext cx="6597650" cy="588830"/>
              </a:xfrm>
              <a:prstGeom prst="roundRect">
                <a:avLst>
                  <a:gd name="adj" fmla="val 12402"/>
                </a:avLst>
              </a:prstGeom>
              <a:blipFill>
                <a:blip r:embed="rId4"/>
                <a:stretch>
                  <a:fillRect/>
                </a:stretch>
              </a:blipFill>
              <a:ln w="6350">
                <a:solidFill>
                  <a:srgbClr val="E3E6E4"/>
                </a:solidFill>
                <a:prstDash val="soli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812800" y="3262181"/>
            <a:ext cx="68021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measurement is fed into a Bayesian (LMMSE) update, never remeasured again.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26375" y="1508125"/>
            <a:ext cx="3549650" cy="3113484"/>
          </a:xfrm>
          <a:prstGeom prst="roundRect">
            <a:avLst>
              <a:gd name="adj" fmla="val 316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056034" y="1737784"/>
            <a:ext cx="3183043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step of measurement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560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3735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86910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90085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93260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96435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99610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2785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05960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0913534" y="206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80560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83735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86910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90085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93260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96435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99610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2785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105960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10913534" y="237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80560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83735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86910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90085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93260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96435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99610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102785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105960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10913534" y="2695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9" name="Shape 37"/>
          <p:cNvSpPr/>
          <p:nvPr/>
        </p:nvSpPr>
        <p:spPr>
          <a:xfrm>
            <a:off x="80560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0" name="Shape 38"/>
          <p:cNvSpPr/>
          <p:nvPr/>
        </p:nvSpPr>
        <p:spPr>
          <a:xfrm>
            <a:off x="83735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86910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90085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93260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4" name="Shape 42"/>
          <p:cNvSpPr/>
          <p:nvPr/>
        </p:nvSpPr>
        <p:spPr>
          <a:xfrm>
            <a:off x="96435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5" name="Shape 43"/>
          <p:cNvSpPr/>
          <p:nvPr/>
        </p:nvSpPr>
        <p:spPr>
          <a:xfrm>
            <a:off x="99610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6" name="Shape 44"/>
          <p:cNvSpPr/>
          <p:nvPr/>
        </p:nvSpPr>
        <p:spPr>
          <a:xfrm>
            <a:off x="102785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7" name="Shape 45"/>
          <p:cNvSpPr/>
          <p:nvPr/>
        </p:nvSpPr>
        <p:spPr>
          <a:xfrm>
            <a:off x="105960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10913534" y="3012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9" name="Shape 47"/>
          <p:cNvSpPr/>
          <p:nvPr/>
        </p:nvSpPr>
        <p:spPr>
          <a:xfrm>
            <a:off x="80560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0" name="Shape 48"/>
          <p:cNvSpPr/>
          <p:nvPr/>
        </p:nvSpPr>
        <p:spPr>
          <a:xfrm>
            <a:off x="83735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1" name="Shape 49"/>
          <p:cNvSpPr/>
          <p:nvPr/>
        </p:nvSpPr>
        <p:spPr>
          <a:xfrm>
            <a:off x="86910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2" name="Shape 50"/>
          <p:cNvSpPr/>
          <p:nvPr/>
        </p:nvSpPr>
        <p:spPr>
          <a:xfrm>
            <a:off x="90085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3" name="Shape 51"/>
          <p:cNvSpPr/>
          <p:nvPr/>
        </p:nvSpPr>
        <p:spPr>
          <a:xfrm>
            <a:off x="93260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4" name="Shape 52"/>
          <p:cNvSpPr/>
          <p:nvPr/>
        </p:nvSpPr>
        <p:spPr>
          <a:xfrm>
            <a:off x="96435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99610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6" name="Shape 54"/>
          <p:cNvSpPr/>
          <p:nvPr/>
        </p:nvSpPr>
        <p:spPr>
          <a:xfrm>
            <a:off x="102785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7" name="Shape 55"/>
          <p:cNvSpPr/>
          <p:nvPr/>
        </p:nvSpPr>
        <p:spPr>
          <a:xfrm>
            <a:off x="105960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0913534" y="33303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80560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0" name="Shape 58"/>
          <p:cNvSpPr/>
          <p:nvPr/>
        </p:nvSpPr>
        <p:spPr>
          <a:xfrm>
            <a:off x="83735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1" name="Shape 59"/>
          <p:cNvSpPr/>
          <p:nvPr/>
        </p:nvSpPr>
        <p:spPr>
          <a:xfrm>
            <a:off x="86910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2" name="Shape 60"/>
          <p:cNvSpPr/>
          <p:nvPr/>
        </p:nvSpPr>
        <p:spPr>
          <a:xfrm>
            <a:off x="90085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3" name="Shape 61"/>
          <p:cNvSpPr/>
          <p:nvPr/>
        </p:nvSpPr>
        <p:spPr>
          <a:xfrm>
            <a:off x="93260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4" name="Shape 62"/>
          <p:cNvSpPr/>
          <p:nvPr/>
        </p:nvSpPr>
        <p:spPr>
          <a:xfrm>
            <a:off x="96435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5" name="Shape 63"/>
          <p:cNvSpPr/>
          <p:nvPr/>
        </p:nvSpPr>
        <p:spPr>
          <a:xfrm>
            <a:off x="99610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6" name="Shape 64"/>
          <p:cNvSpPr/>
          <p:nvPr/>
        </p:nvSpPr>
        <p:spPr>
          <a:xfrm>
            <a:off x="102785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7" name="Shape 65"/>
          <p:cNvSpPr/>
          <p:nvPr/>
        </p:nvSpPr>
        <p:spPr>
          <a:xfrm>
            <a:off x="105960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8" name="Shape 66"/>
          <p:cNvSpPr/>
          <p:nvPr/>
        </p:nvSpPr>
        <p:spPr>
          <a:xfrm>
            <a:off x="10913534" y="3647811"/>
            <a:ext cx="279400" cy="279400"/>
          </a:xfrm>
          <a:prstGeom prst="roundRect">
            <a:avLst>
              <a:gd name="adj" fmla="val 9091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9" name="Shape 67"/>
          <p:cNvSpPr/>
          <p:nvPr/>
        </p:nvSpPr>
        <p:spPr>
          <a:xfrm>
            <a:off x="8056034" y="416593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3E6E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0" name="Text 68"/>
          <p:cNvSpPr/>
          <p:nvPr/>
        </p:nvSpPr>
        <p:spPr>
          <a:xfrm>
            <a:off x="8233834" y="4054211"/>
            <a:ext cx="93159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= antennas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292431" y="416593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2" name="Text 70"/>
          <p:cNvSpPr/>
          <p:nvPr/>
        </p:nvSpPr>
        <p:spPr>
          <a:xfrm>
            <a:off x="9470231" y="4054211"/>
            <a:ext cx="172693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Subcarrier k, measured this step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Problem formulation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303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sequential decision problem: </a:t>
            </a: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subcarrier to pilot next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repeated until a stopping rule is met.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75" y="2149475"/>
            <a:ext cx="693648" cy="781844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12156" y="2328335"/>
            <a:ext cx="51982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Tx</a:t>
            </a:r>
            <a:endParaRPr lang="en-US" sz="11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63082" y="2439373"/>
            <a:ext cx="3556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23457" y="2048451"/>
            <a:ext cx="1259397" cy="959644"/>
          </a:xfrm>
          <a:prstGeom prst="roundRect">
            <a:avLst>
              <a:gd name="adj" fmla="val 893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2273510" y="2415094"/>
            <a:ext cx="95929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Channel</a:t>
            </a:r>
            <a:endParaRPr lang="en-US" sz="11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92404" y="2419021"/>
            <a:ext cx="3556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23927" y="2047477"/>
            <a:ext cx="1685079" cy="959644"/>
          </a:xfrm>
          <a:prstGeom prst="roundRect">
            <a:avLst>
              <a:gd name="adj" fmla="val 8933"/>
            </a:avLst>
          </a:prstGeom>
          <a:solidFill>
            <a:schemeClr val="bg2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9"/>
          <p:cNvSpPr/>
          <p:nvPr/>
        </p:nvSpPr>
        <p:spPr>
          <a:xfrm>
            <a:off x="5523927" y="2297458"/>
            <a:ext cx="1685077" cy="55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</a:rPr>
              <a:t>LMMSE Channel estimator</a:t>
            </a:r>
          </a:p>
          <a:p>
            <a:pPr algn="ctr">
              <a:lnSpc>
                <a:spcPts val="1540"/>
              </a:lnSpc>
            </a:pPr>
            <a:r>
              <a:rPr lang="en-US" sz="11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posterior updates (ĥ, P) </a:t>
            </a:r>
            <a:endParaRPr lang="en-US" sz="11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2465" y="3969793"/>
            <a:ext cx="355600" cy="177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822840" y="3667771"/>
            <a:ext cx="2216150" cy="781844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2"/>
          <p:cNvSpPr/>
          <p:nvPr/>
        </p:nvSpPr>
        <p:spPr>
          <a:xfrm>
            <a:off x="7332650" y="3753653"/>
            <a:ext cx="385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Yes?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3"/>
              <p:cNvSpPr/>
              <p:nvPr/>
            </p:nvSpPr>
            <p:spPr>
              <a:xfrm>
                <a:off x="7976299" y="3980695"/>
                <a:ext cx="1966510" cy="203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000" dirty="0">
                    <a:solidFill>
                      <a:srgbClr val="6A7179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Output final channel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>
                            <a:solidFill>
                              <a:srgbClr val="182230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00" b="1" i="1">
                                <a:solidFill>
                                  <a:srgbClr val="182230"/>
                                </a:solidFill>
                                <a:latin typeface="Cambria Math" panose="02040503050406030204" pitchFamily="18" charset="0"/>
                                <a:ea typeface="IBM Plex Sans" pitchFamily="34" charset="-122"/>
                                <a:cs typeface="IBM Plex Sans" pitchFamily="34" charset="-120"/>
                              </a:rPr>
                            </m:ctrlPr>
                          </m:accPr>
                          <m:e>
                            <m:r>
                              <a:rPr lang="en-US" sz="1000" b="1" i="1">
                                <a:solidFill>
                                  <a:srgbClr val="182230"/>
                                </a:solidFill>
                                <a:latin typeface="Cambria Math" panose="02040503050406030204" pitchFamily="18" charset="0"/>
                                <a:ea typeface="IBM Plex Sans" pitchFamily="34" charset="-122"/>
                                <a:cs typeface="IBM Plex Sans" pitchFamily="34" charset="-12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en-US" sz="1000" b="1" i="1" dirty="0">
                            <a:solidFill>
                              <a:srgbClr val="182230"/>
                            </a:solidFill>
                            <a:latin typeface="Cambria Math" panose="02040503050406030204" pitchFamily="18" charset="0"/>
                            <a:ea typeface="IBM Plex Sans" pitchFamily="34" charset="-122"/>
                            <a:cs typeface="IBM Plex Sans" pitchFamily="34" charset="-120"/>
                          </a:rPr>
                          <m:t>𝑻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18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299" y="3980695"/>
                <a:ext cx="1966510" cy="203200"/>
              </a:xfrm>
              <a:prstGeom prst="rect">
                <a:avLst/>
              </a:prstGeom>
              <a:blipFill>
                <a:blip r:embed="rId4"/>
                <a:stretch>
                  <a:fillRect l="-4025" t="-15152" r="-4334" b="-21212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2">
            <a:extLst>
              <a:ext uri="{FF2B5EF4-FFF2-40B4-BE49-F238E27FC236}">
                <a16:creationId xmlns:a16="http://schemas.microsoft.com/office/drawing/2014/main" id="{F0223AB7-F912-0D02-03A8-3E9E7A1B10E2}"/>
              </a:ext>
            </a:extLst>
          </p:cNvPr>
          <p:cNvSpPr/>
          <p:nvPr/>
        </p:nvSpPr>
        <p:spPr>
          <a:xfrm>
            <a:off x="4052779" y="2144937"/>
            <a:ext cx="693648" cy="781844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F8247D7-D4E8-19E6-55C5-B7049469C61B}"/>
              </a:ext>
            </a:extLst>
          </p:cNvPr>
          <p:cNvSpPr/>
          <p:nvPr/>
        </p:nvSpPr>
        <p:spPr>
          <a:xfrm>
            <a:off x="4148960" y="2323797"/>
            <a:ext cx="51982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Rx</a:t>
            </a:r>
            <a:endParaRPr lang="en-US" sz="1100" dirty="0"/>
          </a:p>
        </p:txBody>
      </p:sp>
      <p:pic>
        <p:nvPicPr>
          <p:cNvPr id="30" name="Image 1" descr="arrow-right">
            <a:extLst>
              <a:ext uri="{FF2B5EF4-FFF2-40B4-BE49-F238E27FC236}">
                <a16:creationId xmlns:a16="http://schemas.microsoft.com/office/drawing/2014/main" id="{CCDA4D50-1582-0BAB-A275-8AD614222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7377" y="2415094"/>
            <a:ext cx="355600" cy="177800"/>
          </a:xfrm>
          <a:prstGeom prst="rect">
            <a:avLst/>
          </a:prstGeom>
        </p:spPr>
      </p:pic>
      <p:sp>
        <p:nvSpPr>
          <p:cNvPr id="32" name="Shape 8">
            <a:extLst>
              <a:ext uri="{FF2B5EF4-FFF2-40B4-BE49-F238E27FC236}">
                <a16:creationId xmlns:a16="http://schemas.microsoft.com/office/drawing/2014/main" id="{00F1427F-447E-F437-42C6-5CBD14897206}"/>
              </a:ext>
            </a:extLst>
          </p:cNvPr>
          <p:cNvSpPr/>
          <p:nvPr/>
        </p:nvSpPr>
        <p:spPr>
          <a:xfrm>
            <a:off x="5523926" y="3552019"/>
            <a:ext cx="1685079" cy="959644"/>
          </a:xfrm>
          <a:prstGeom prst="roundRect">
            <a:avLst>
              <a:gd name="adj" fmla="val 8933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7883763F-4F6D-5AA2-9F1A-3ACA4A0C8EF6}"/>
              </a:ext>
            </a:extLst>
          </p:cNvPr>
          <p:cNvSpPr/>
          <p:nvPr/>
        </p:nvSpPr>
        <p:spPr>
          <a:xfrm>
            <a:off x="5677386" y="3695312"/>
            <a:ext cx="1387648" cy="488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</a:rPr>
              <a:t>Error estimator</a:t>
            </a:r>
          </a:p>
          <a:p>
            <a:pPr algn="ctr">
              <a:lnSpc>
                <a:spcPts val="1540"/>
              </a:lnSpc>
            </a:pPr>
            <a:r>
              <a:rPr lang="en-US" sz="11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small enough ?</a:t>
            </a:r>
            <a:endParaRPr lang="en-US" sz="1100" dirty="0"/>
          </a:p>
          <a:p>
            <a:pPr marL="0" indent="0" algn="ctr">
              <a:lnSpc>
                <a:spcPts val="1540"/>
              </a:lnSpc>
              <a:buNone/>
            </a:pPr>
            <a:endParaRPr lang="en-US" sz="11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8DA9BAD-5099-E998-7F81-0885625BE318}"/>
              </a:ext>
            </a:extLst>
          </p:cNvPr>
          <p:cNvSpPr/>
          <p:nvPr/>
        </p:nvSpPr>
        <p:spPr>
          <a:xfrm>
            <a:off x="2693941" y="3666713"/>
            <a:ext cx="2216150" cy="781844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2511EB30-5969-AA62-C5B1-138662609428}"/>
              </a:ext>
            </a:extLst>
          </p:cNvPr>
          <p:cNvSpPr/>
          <p:nvPr/>
        </p:nvSpPr>
        <p:spPr>
          <a:xfrm>
            <a:off x="5095950" y="3805775"/>
            <a:ext cx="55216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No?</a:t>
            </a:r>
            <a:endParaRPr lang="en-US" sz="110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9FFA2EA8-6249-AEEB-7FAE-616E74FF847A}"/>
              </a:ext>
            </a:extLst>
          </p:cNvPr>
          <p:cNvSpPr/>
          <p:nvPr/>
        </p:nvSpPr>
        <p:spPr>
          <a:xfrm>
            <a:off x="2847400" y="3805775"/>
            <a:ext cx="1966510" cy="48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sampling:</a:t>
            </a:r>
          </a:p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next pilot subcarrier </a:t>
            </a:r>
            <a:endParaRPr lang="en-US" sz="1000" dirty="0"/>
          </a:p>
        </p:txBody>
      </p:sp>
      <p:pic>
        <p:nvPicPr>
          <p:cNvPr id="56" name="Image 1" descr="arrow-right">
            <a:extLst>
              <a:ext uri="{FF2B5EF4-FFF2-40B4-BE49-F238E27FC236}">
                <a16:creationId xmlns:a16="http://schemas.microsoft.com/office/drawing/2014/main" id="{737FD766-2874-679B-ECE6-3FEACC5E8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5039208" y="4002999"/>
            <a:ext cx="355600" cy="177800"/>
          </a:xfrm>
          <a:prstGeom prst="rect">
            <a:avLst/>
          </a:prstGeom>
        </p:spPr>
      </p:pic>
      <p:pic>
        <p:nvPicPr>
          <p:cNvPr id="58" name="Image 1" descr="arrow-right">
            <a:extLst>
              <a:ext uri="{FF2B5EF4-FFF2-40B4-BE49-F238E27FC236}">
                <a16:creationId xmlns:a16="http://schemas.microsoft.com/office/drawing/2014/main" id="{D69307A1-5049-2F44-4386-AD3189A3E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2095710" y="4051835"/>
            <a:ext cx="355600" cy="177800"/>
          </a:xfrm>
          <a:prstGeom prst="rect">
            <a:avLst/>
          </a:prstGeom>
        </p:spPr>
      </p:pic>
      <p:pic>
        <p:nvPicPr>
          <p:cNvPr id="60" name="Image 1" descr="arrow-right">
            <a:extLst>
              <a:ext uri="{FF2B5EF4-FFF2-40B4-BE49-F238E27FC236}">
                <a16:creationId xmlns:a16="http://schemas.microsoft.com/office/drawing/2014/main" id="{49A3AB09-3558-4DCB-2EF3-1924B441EF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1610991" y="4066351"/>
            <a:ext cx="355600" cy="177800"/>
          </a:xfrm>
          <a:prstGeom prst="rect">
            <a:avLst/>
          </a:prstGeom>
        </p:spPr>
      </p:pic>
      <p:pic>
        <p:nvPicPr>
          <p:cNvPr id="62" name="Image 1" descr="arrow-right">
            <a:extLst>
              <a:ext uri="{FF2B5EF4-FFF2-40B4-BE49-F238E27FC236}">
                <a16:creationId xmlns:a16="http://schemas.microsoft.com/office/drawing/2014/main" id="{813FBEA5-12A2-D70E-6829-AA929BEBB2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1126273" y="4066021"/>
            <a:ext cx="355600" cy="177800"/>
          </a:xfrm>
          <a:prstGeom prst="rect">
            <a:avLst/>
          </a:prstGeom>
        </p:spPr>
      </p:pic>
      <p:pic>
        <p:nvPicPr>
          <p:cNvPr id="64" name="Image 1" descr="arrow-right">
            <a:extLst>
              <a:ext uri="{FF2B5EF4-FFF2-40B4-BE49-F238E27FC236}">
                <a16:creationId xmlns:a16="http://schemas.microsoft.com/office/drawing/2014/main" id="{2696A1D5-4D9B-7102-E9BD-E6BA85771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6200000">
            <a:off x="994270" y="3672650"/>
            <a:ext cx="355600" cy="177800"/>
          </a:xfrm>
          <a:prstGeom prst="rect">
            <a:avLst/>
          </a:prstGeom>
        </p:spPr>
      </p:pic>
      <p:pic>
        <p:nvPicPr>
          <p:cNvPr id="66" name="Image 1" descr="arrow-right">
            <a:extLst>
              <a:ext uri="{FF2B5EF4-FFF2-40B4-BE49-F238E27FC236}">
                <a16:creationId xmlns:a16="http://schemas.microsoft.com/office/drawing/2014/main" id="{29C7EFD8-D645-A84C-762D-97303710EE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6200000">
            <a:off x="994270" y="3224734"/>
            <a:ext cx="355600" cy="177800"/>
          </a:xfrm>
          <a:prstGeom prst="rect">
            <a:avLst/>
          </a:prstGeom>
        </p:spPr>
      </p:pic>
      <p:pic>
        <p:nvPicPr>
          <p:cNvPr id="68" name="Image 1" descr="arrow-right">
            <a:extLst>
              <a:ext uri="{FF2B5EF4-FFF2-40B4-BE49-F238E27FC236}">
                <a16:creationId xmlns:a16="http://schemas.microsoft.com/office/drawing/2014/main" id="{B0AA21E3-D3D8-2C4C-E085-FF0C6D7A86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6165596" y="3190670"/>
            <a:ext cx="3556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50" dirty="0">
                <a:solidFill>
                  <a:srgbClr val="2B61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2 · MODEL-BASED ALGORITHM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46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LMMSE recap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3724910"/>
            <a:ext cx="68021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new pilot measurement updates a Bayesian posterior belief — mean and covariance — over the whole channel.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4350385"/>
            <a:ext cx="6597650" cy="1124678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994833" y="4503845"/>
                <a:ext cx="6427131" cy="23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68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−</m:t>
                          </m:r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p>
                      </m:sSubSup>
                      <m:sSup>
                        <m:sSupPr>
                          <m:ctrlPr>
                            <a:rPr lang="en-US" sz="1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1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200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−</m:t>
                                  </m:r>
                                  <m:r>
                                    <a:rPr lang="en-US" sz="1200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  <m:sup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33" y="4503845"/>
                <a:ext cx="6427131" cy="238720"/>
              </a:xfrm>
              <a:prstGeom prst="rect">
                <a:avLst/>
              </a:prstGeom>
              <a:blipFill>
                <a:blip r:embed="rId3"/>
                <a:stretch>
                  <a:fillRect t="-7692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994833" y="4806066"/>
                <a:ext cx="6427131" cy="23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68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accPr>
                            <m:e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𝒉</m:t>
                              </m:r>
                            </m:e>
                          </m:acc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acc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𝒉</m:t>
                              </m:r>
                            </m:e>
                          </m:acc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−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𝟏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+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sSub>
                        <m:sSub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33" y="4806066"/>
                <a:ext cx="6427131" cy="238720"/>
              </a:xfrm>
              <a:prstGeom prst="rect">
                <a:avLst/>
              </a:prstGeom>
              <a:blipFill>
                <a:blip r:embed="rId4"/>
                <a:stretch>
                  <a:fillRect t="-17500" b="-2500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994833" y="5108286"/>
                <a:ext cx="6427131" cy="23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68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𝑰</m:t>
                          </m:r>
                          <m:r>
                            <a:rPr lang="en-US" sz="1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−</m:t>
                          </m:r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33" y="5108286"/>
                <a:ext cx="6427131" cy="238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812800" y="5605239"/>
                <a:ext cx="680212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8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200" b="1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200" b="1" i="1" smtClean="0">
                                <a:solidFill>
                                  <a:srgbClr val="6A71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solidFill>
                                  <a:srgbClr val="6A7179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  <m:r>
                          <a:rPr lang="en-US" sz="12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d>
                  </m:oMath>
                </a14:m>
                <a:r>
                  <a:rPr lang="en-US" sz="1200" dirty="0">
                    <a:solidFill>
                      <a:srgbClr val="6A7179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is the full state the policy sees: a posterior mean and a posterior covariance over all N channel entries.</a:t>
                </a:r>
                <a:endParaRPr lang="en-US" sz="12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605239"/>
                <a:ext cx="6802120" cy="482600"/>
              </a:xfrm>
              <a:prstGeom prst="rect">
                <a:avLst/>
              </a:prstGeom>
              <a:blipFill>
                <a:blip r:embed="rId6"/>
                <a:stretch>
                  <a:fillRect l="-1344" t="-7500" b="-10000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7823200" y="1936750"/>
            <a:ext cx="3556000" cy="2054820"/>
          </a:xfrm>
          <a:prstGeom prst="roundRect">
            <a:avLst>
              <a:gd name="adj" fmla="val 4944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1" name="Image 0" descr="Lightbulb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77200" y="2190750"/>
            <a:ext cx="254000" cy="254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77200" y="254635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key property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/>
              <p:nvPr/>
            </p:nvSpPr>
            <p:spPr>
              <a:xfrm>
                <a:off x="8077200" y="2861269"/>
                <a:ext cx="3139440" cy="10206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92500"/>
              </a:bodyPr>
              <a:lstStyle/>
              <a:p>
                <a:pPr marL="0" indent="0" algn="l">
                  <a:lnSpc>
                    <a:spcPts val="1725"/>
                  </a:lnSpc>
                  <a:buNone/>
                </a:pPr>
                <a:r>
                  <a:rPr lang="en-US" sz="1150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P depends only on </a:t>
                </a:r>
                <a:r>
                  <a:rPr lang="en-US" sz="1150" b="1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which subcarriers have been measured</a:t>
                </a:r>
                <a:r>
                  <a:rPr lang="en-US" sz="1150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 thru </a:t>
                </a:r>
                <a14:m>
                  <m:oMath xmlns:m="http://schemas.openxmlformats.org/officeDocument/2006/math">
                    <m:r>
                      <a:rPr lang="en-US" sz="1150" b="0" i="1" smtClean="0">
                        <a:solidFill>
                          <a:srgbClr val="DCEAE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𝑋</m:t>
                    </m:r>
                  </m:oMath>
                </a14:m>
                <a:r>
                  <a:rPr lang="en-US" sz="1150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 and the </a:t>
                </a:r>
                <a:r>
                  <a:rPr lang="en-US" sz="1150" b="1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assumed Σ</a:t>
                </a:r>
                <a:r>
                  <a:rPr lang="en-US" sz="1150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 thru </a:t>
                </a:r>
                <a14:m>
                  <m:oMath xmlns:m="http://schemas.openxmlformats.org/officeDocument/2006/math">
                    <m:r>
                      <a:rPr lang="en-US" sz="1150" b="0" i="1" smtClean="0">
                        <a:solidFill>
                          <a:srgbClr val="DCEAE8"/>
                        </a:solidFill>
                        <a:latin typeface="Cambria Math" panose="02040503050406030204" pitchFamily="18" charset="0"/>
                        <a:ea typeface="IBM Plex Sans" pitchFamily="34" charset="-122"/>
                        <a:cs typeface="IBM Plex Sans" pitchFamily="34" charset="-120"/>
                      </a:rPr>
                      <m:t>𝑃</m:t>
                    </m:r>
                  </m:oMath>
                </a14:m>
                <a:r>
                  <a:rPr lang="en-US" sz="1150" dirty="0">
                    <a:solidFill>
                      <a:srgbClr val="DCEAE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— never on the realized data y. It is a belief, not a measurement.</a:t>
                </a:r>
                <a:endParaRPr lang="en-US" sz="1150" dirty="0"/>
              </a:p>
            </p:txBody>
          </p:sp>
        </mc:Choice>
        <mc:Fallback xmlns="">
          <p:sp>
            <p:nvSpPr>
              <p:cNvPr id="13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861269"/>
                <a:ext cx="3139440" cy="1020617"/>
              </a:xfrm>
              <a:prstGeom prst="rect">
                <a:avLst/>
              </a:prstGeom>
              <a:blipFill>
                <a:blip r:embed="rId8"/>
                <a:stretch>
                  <a:fillRect l="-2718" t="-1190" r="-1359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2">
            <a:extLst>
              <a:ext uri="{FF2B5EF4-FFF2-40B4-BE49-F238E27FC236}">
                <a16:creationId xmlns:a16="http://schemas.microsoft.com/office/drawing/2014/main" id="{5F2110FF-994D-26C6-08C5-AF586D5FA5CC}"/>
              </a:ext>
            </a:extLst>
          </p:cNvPr>
          <p:cNvSpPr/>
          <p:nvPr/>
        </p:nvSpPr>
        <p:spPr>
          <a:xfrm>
            <a:off x="833120" y="1885950"/>
            <a:ext cx="68021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the first measurement is taken, we initiate the channel estimate and covariance:</a:t>
            </a:r>
            <a:endParaRPr lang="en-US" sz="13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0F60F4C4-B9FF-E7AC-3409-C608B09A247D}"/>
              </a:ext>
            </a:extLst>
          </p:cNvPr>
          <p:cNvSpPr/>
          <p:nvPr/>
        </p:nvSpPr>
        <p:spPr>
          <a:xfrm>
            <a:off x="836295" y="2511425"/>
            <a:ext cx="6597650" cy="1124678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4">
                <a:extLst>
                  <a:ext uri="{FF2B5EF4-FFF2-40B4-BE49-F238E27FC236}">
                    <a16:creationId xmlns:a16="http://schemas.microsoft.com/office/drawing/2014/main" id="{3F8D6322-D75E-A234-CDDC-00015474DCB4}"/>
                  </a:ext>
                </a:extLst>
              </p:cNvPr>
              <p:cNvSpPr/>
              <p:nvPr/>
            </p:nvSpPr>
            <p:spPr>
              <a:xfrm>
                <a:off x="1015153" y="2664885"/>
                <a:ext cx="6427131" cy="23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68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−</m:t>
                          </m:r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p>
                      </m:sSubSup>
                      <m:sSup>
                        <m:sSupPr>
                          <m:ctrlPr>
                            <a:rPr lang="en-US" sz="1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12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200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−</m:t>
                                  </m:r>
                                  <m:r>
                                    <a:rPr lang="en-US" sz="1200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  <m:sup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3" name="Text 4">
                <a:extLst>
                  <a:ext uri="{FF2B5EF4-FFF2-40B4-BE49-F238E27FC236}">
                    <a16:creationId xmlns:a16="http://schemas.microsoft.com/office/drawing/2014/main" id="{3F8D6322-D75E-A234-CDDC-00015474DC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53" y="2664885"/>
                <a:ext cx="6427131" cy="238720"/>
              </a:xfrm>
              <a:prstGeom prst="rect">
                <a:avLst/>
              </a:prstGeom>
              <a:blipFill>
                <a:blip r:embed="rId9"/>
                <a:stretch>
                  <a:fillRect t="-7692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5">
                <a:extLst>
                  <a:ext uri="{FF2B5EF4-FFF2-40B4-BE49-F238E27FC236}">
                    <a16:creationId xmlns:a16="http://schemas.microsoft.com/office/drawing/2014/main" id="{BD9B49ED-6E7D-9F06-6AE5-065BF796A75A}"/>
                  </a:ext>
                </a:extLst>
              </p:cNvPr>
              <p:cNvSpPr/>
              <p:nvPr/>
            </p:nvSpPr>
            <p:spPr>
              <a:xfrm>
                <a:off x="1015153" y="2967106"/>
                <a:ext cx="6427131" cy="238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68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accPr>
                            <m:e>
                              <m:r>
                                <a:rPr lang="en-US" sz="12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𝒉</m:t>
                              </m:r>
                            </m:e>
                          </m:acc>
                        </m:e>
                        <m:sub>
                          <m:r>
                            <a:rPr lang="en-US" sz="1200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𝟎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acc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𝒉</m:t>
                              </m:r>
                            </m:e>
                          </m:acc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−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𝟏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+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sSub>
                        <m:sSubPr>
                          <m:ctrlPr>
                            <a:rPr lang="en-US" sz="12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2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25" name="Text 5">
                <a:extLst>
                  <a:ext uri="{FF2B5EF4-FFF2-40B4-BE49-F238E27FC236}">
                    <a16:creationId xmlns:a16="http://schemas.microsoft.com/office/drawing/2014/main" id="{BD9B49ED-6E7D-9F06-6AE5-065BF796A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53" y="2967106"/>
                <a:ext cx="6427131" cy="238720"/>
              </a:xfrm>
              <a:prstGeom prst="rect">
                <a:avLst/>
              </a:prstGeom>
              <a:blipFill>
                <a:blip r:embed="rId10"/>
                <a:stretch>
                  <a:fillRect t="-20513" b="-5128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active greedy policy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68021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every step, pick the unused subcarrier that maximizes a trace-minimization score: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/>
              <p:nvPr/>
            </p:nvSpPr>
            <p:spPr>
              <a:xfrm>
                <a:off x="815975" y="1882775"/>
                <a:ext cx="6597650" cy="538030"/>
              </a:xfrm>
              <a:prstGeom prst="roundRect">
                <a:avLst>
                  <a:gd name="adj" fmla="val 13573"/>
                </a:avLst>
              </a:prstGeom>
              <a:solidFill>
                <a:srgbClr val="FFFFFF"/>
              </a:solidFill>
              <a:ln w="6350">
                <a:solidFill>
                  <a:srgbClr val="E3E6E4"/>
                </a:solidFill>
                <a:prstDash val="solid"/>
              </a:ln>
            </p:spPr>
            <p:txBody>
              <a:bodyPr wrap="square" lIns="157470" tIns="132070" rIns="0" bIns="106670" rtlCol="0" anchor="t">
                <a:normAutofit/>
              </a:bodyPr>
              <a:lstStyle/>
              <a:p>
                <a:pPr>
                  <a:lnSpc>
                    <a:spcPts val="1820"/>
                  </a:lnSpc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𝑘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∗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func>
                        <m:funcPr>
                          <m:ctrlPr>
                            <a:rPr lang="en-US" sz="1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4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m</m:t>
                                  </m:r>
                                  <m:r>
                                    <a:rPr lang="en-US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𝑎𝑥</m:t>
                                  </m:r>
                                </m:e>
                                <m:lim>
                                  <m:r>
                                    <a:rPr lang="en-US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𝑘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𝒕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14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4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  <m:r>
                                        <a:rPr lang="en-US" sz="14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4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sz="1400" b="1" i="1" dirty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𝑯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400" b="1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𝑰</m:t>
                                          </m:r>
                                          <m:r>
                                            <a:rPr lang="en-US" sz="1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𝒕</m:t>
                                              </m:r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1400" b="1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Georgia"/>
                                                  <a:cs typeface="Georgia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Georgia"/>
                                                  <a:cs typeface="Georgia"/>
                                                </a:rPr>
                                                <m:t>𝑷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1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Georgia"/>
                                                  <a:cs typeface="Georgia"/>
                                                </a:rPr>
                                                <m:t>𝒕</m:t>
                                              </m:r>
                                            </m:sub>
                                          </m:sSub>
                                          <m:sSubSup>
                                            <m:sSubSupPr>
                                              <m:ctrlP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𝒕</m:t>
                                              </m:r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1" i="1" dirty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𝑯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𝒕</m:t>
                                      </m:r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+</m:t>
                                      </m:r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</a:rPr>
                                        <m:t>𝒕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75" y="1882775"/>
                <a:ext cx="6597650" cy="538030"/>
              </a:xfrm>
              <a:prstGeom prst="roundRect">
                <a:avLst>
                  <a:gd name="adj" fmla="val 13573"/>
                </a:avLst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rgbClr val="E3E6E4"/>
                </a:solidFill>
                <a:prstDash val="soli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812800" y="2550982"/>
                <a:ext cx="6802120" cy="21052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165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1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1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1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𝑁𝑥𝑁</m:t>
                          </m:r>
                        </m:sup>
                      </m:sSup>
                      <m:r>
                        <a:rPr lang="en-US" sz="11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 ;  </m:t>
                      </m:r>
                      <m:r>
                        <a:rPr lang="en-US" sz="11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1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1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100" dirty="0">
                  <a:solidFill>
                    <a:srgbClr val="6A7179"/>
                  </a:solidFill>
                  <a:latin typeface="IBM Plex Sans" pitchFamily="34" charset="0"/>
                </a:endParaRPr>
              </a:p>
              <a:p>
                <a:pPr>
                  <a:lnSpc>
                    <a:spcPts val="165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1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1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1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1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1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1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𝑥𝑁</m:t>
                          </m:r>
                        </m:sup>
                      </m:sSup>
                    </m:oMath>
                  </m:oMathPara>
                </a14:m>
                <a:endParaRPr lang="en-US" sz="1100" dirty="0">
                  <a:solidFill>
                    <a:srgbClr val="6A7179"/>
                  </a:solidFill>
                  <a:latin typeface="IBM Plex Sans" pitchFamily="34" charset="0"/>
                </a:endParaRPr>
              </a:p>
              <a:p>
                <a:pPr>
                  <a:lnSpc>
                    <a:spcPts val="165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100" b="1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11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1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1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100" dirty="0">
                  <a:solidFill>
                    <a:srgbClr val="6A7179"/>
                  </a:solidFill>
                  <a:latin typeface="IBM Plex Sans" pitchFamily="34" charset="0"/>
                </a:endParaRPr>
              </a:p>
              <a:p>
                <a:pPr>
                  <a:lnSpc>
                    <a:spcPts val="1650"/>
                  </a:lnSpc>
                </a:pPr>
                <a:r>
                  <a:rPr lang="en-US" sz="1100" dirty="0">
                    <a:solidFill>
                      <a:srgbClr val="6A7179"/>
                    </a:solidFill>
                    <a:latin typeface="IBM Plex Sans" pitchFamily="34" charset="0"/>
                  </a:rPr>
                  <a:t>In our settings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100" b="0" i="1" smtClean="0">
                        <a:solidFill>
                          <a:srgbClr val="6A7179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1100" dirty="0">
                    <a:solidFill>
                      <a:srgbClr val="6A7179"/>
                    </a:solidFill>
                    <a:latin typeface="IBM Plex Sans" pitchFamily="34" charset="0"/>
                  </a:rPr>
                  <a:t> antennas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6A717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100" b="0" i="1" smtClean="0">
                        <a:solidFill>
                          <a:srgbClr val="6A7179"/>
                        </a:solidFill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sz="1100" dirty="0">
                    <a:solidFill>
                      <a:srgbClr val="6A7179"/>
                    </a:solidFill>
                    <a:latin typeface="IBM Plex Sans" pitchFamily="34" charset="0"/>
                  </a:rPr>
                  <a:t> subcarriers. </a:t>
                </a:r>
              </a:p>
              <a:p>
                <a:pPr>
                  <a:lnSpc>
                    <a:spcPts val="1650"/>
                  </a:lnSpc>
                </a:pPr>
                <a:endParaRPr lang="en-US" sz="1100" dirty="0">
                  <a:solidFill>
                    <a:srgbClr val="6A7179"/>
                  </a:solidFill>
                  <a:latin typeface="IBM Plex Sans" pitchFamily="34" charset="0"/>
                </a:endParaRPr>
              </a:p>
              <a:p>
                <a:pPr>
                  <a:lnSpc>
                    <a:spcPts val="1650"/>
                  </a:lnSpc>
                </a:pPr>
                <a:endParaRPr lang="en-US" sz="1100" dirty="0">
                  <a:solidFill>
                    <a:srgbClr val="6A7179"/>
                  </a:solidFill>
                  <a:latin typeface="IBM Plex Sans" pitchFamily="34" charset="0"/>
                </a:endParaRPr>
              </a:p>
              <a:p>
                <a:pPr>
                  <a:lnSpc>
                    <a:spcPts val="1650"/>
                  </a:lnSpc>
                </a:pPr>
                <a:endParaRPr lang="en-US" sz="11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50982"/>
                <a:ext cx="6802120" cy="2105236"/>
              </a:xfrm>
              <a:prstGeom prst="rect">
                <a:avLst/>
              </a:prstGeom>
              <a:blipFill>
                <a:blip r:embed="rId4"/>
                <a:stretch>
                  <a:fillRect l="-1254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7826375" y="1508125"/>
            <a:ext cx="3549650" cy="1613694"/>
          </a:xfrm>
          <a:prstGeom prst="roundRect">
            <a:avLst>
              <a:gd name="adj" fmla="val 609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0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30634" y="1712385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30634" y="2017185"/>
            <a:ext cx="323536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30634" y="2288911"/>
            <a:ext cx="3235367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trace term estimates how much piloting subcarrier k would shrink posterior uncertainty — a one-step-lookahead information-gain score.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23200" y="3251994"/>
            <a:ext cx="3556000" cy="1332177"/>
          </a:xfrm>
          <a:prstGeom prst="roundRect">
            <a:avLst>
              <a:gd name="adj" fmla="val 7627"/>
            </a:avLst>
          </a:prstGeom>
          <a:solidFill>
            <a:srgbClr val="B35F22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2" name="Image 1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26400" y="3455194"/>
            <a:ext cx="203200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26400" y="3721894"/>
            <a:ext cx="3244088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7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assumption it needs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26400" y="3980923"/>
            <a:ext cx="3244088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8E6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true covariance Σ must be known exactly — P, and therefore J(k), is only as good as that prior.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A40DDD76-1293-4244-9334-699E46F6FC5A}"/>
                  </a:ext>
                </a:extLst>
              </p:cNvPr>
              <p:cNvSpPr/>
              <p:nvPr/>
            </p:nvSpPr>
            <p:spPr>
              <a:xfrm>
                <a:off x="968375" y="5299023"/>
                <a:ext cx="10407650" cy="1191577"/>
              </a:xfrm>
              <a:prstGeom prst="roundRect">
                <a:avLst>
                  <a:gd name="adj" fmla="val 13573"/>
                </a:avLst>
              </a:prstGeom>
              <a:solidFill>
                <a:srgbClr val="FFFFFF"/>
              </a:solidFill>
              <a:ln w="6350">
                <a:solidFill>
                  <a:srgbClr val="E3E6E4"/>
                </a:solidFill>
                <a:prstDash val="solid"/>
              </a:ln>
            </p:spPr>
            <p:txBody>
              <a:bodyPr wrap="square" lIns="157470" tIns="132070" rIns="0" bIns="106670" rtlCol="0" anchor="t">
                <a:normAutofit/>
              </a:bodyPr>
              <a:lstStyle/>
              <a:p>
                <a:pPr>
                  <a:lnSpc>
                    <a:spcPts val="182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𝑀𝑆𝐸</m:t>
                      </m:r>
                      <m:r>
                        <a:rPr lang="en-US" sz="14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𝜮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sz="14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+</m:t>
                              </m:r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r>
                        <a:rPr lang="en-US" sz="14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𝑰</m:t>
                              </m:r>
                              <m:r>
                                <a:rPr lang="en-US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𝑡𝑟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+</m:t>
                              </m:r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+</m:t>
                              </m:r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dk1"/>
                  </a:solidFill>
                  <a:ea typeface="Georgia"/>
                  <a:cs typeface="Georgia"/>
                </a:endParaRPr>
              </a:p>
              <a:p>
                <a:pPr>
                  <a:lnSpc>
                    <a:spcPts val="1820"/>
                  </a:lnSpc>
                </a:pPr>
                <a:endParaRPr lang="en-US" sz="1400" dirty="0">
                  <a:solidFill>
                    <a:schemeClr val="dk1"/>
                  </a:solidFill>
                  <a:ea typeface="Georgia"/>
                  <a:cs typeface="Georgia"/>
                </a:endParaRPr>
              </a:p>
              <a:p>
                <a:pPr>
                  <a:lnSpc>
                    <a:spcPts val="1820"/>
                  </a:lnSpc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  <m:t>𝑀𝑆𝐸</m:t>
                          </m:r>
                        </m:e>
                      </m:func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𝑡𝑟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𝑡𝑟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4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14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4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1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b="1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𝑰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400" b="1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Georgia"/>
                                              <a:cs typeface="Georgi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Georgia"/>
                                              <a:cs typeface="Georgia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lang="en-US" sz="1400" b="1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Georgia"/>
                                              <a:cs typeface="Georgia"/>
                                            </a:rPr>
                                            <m:t>𝒕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a:rPr lang="en-US" sz="1400" b="1" i="1" dirty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A40DDD76-1293-4244-9334-699E46F6FC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75" y="5299023"/>
                <a:ext cx="10407650" cy="1191577"/>
              </a:xfrm>
              <a:prstGeom prst="roundRect">
                <a:avLst>
                  <a:gd name="adj" fmla="val 13573"/>
                </a:avLst>
              </a:prstGeom>
              <a:blipFill>
                <a:blip r:embed="rId7"/>
                <a:stretch>
                  <a:fillRect/>
                </a:stretch>
              </a:blipFill>
              <a:ln w="6350">
                <a:solidFill>
                  <a:srgbClr val="E3E6E4"/>
                </a:solidFill>
                <a:prstDash val="soli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Baseline: active beats fixed, on Gaussian matched prior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89618"/>
            <a:ext cx="7588250" cy="4116917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exp1 pilot policy: mean estimated NMSE vs pilot count for fixed, random and active policies under a matched Gaussian Kronecker prior"/>
          <p:cNvPicPr>
            <a:picLocks noChangeAspect="1"/>
          </p:cNvPicPr>
          <p:nvPr/>
        </p:nvPicPr>
        <p:blipFill>
          <a:blip r:embed="rId3"/>
          <a:srcRect t="-2500" b="-2500"/>
          <a:stretch/>
        </p:blipFill>
        <p:spPr>
          <a:xfrm>
            <a:off x="1435100" y="1743075"/>
            <a:ext cx="6350000" cy="381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/>
              <p:nvPr/>
            </p:nvSpPr>
            <p:spPr>
              <a:xfrm>
                <a:off x="8712200" y="2020620"/>
                <a:ext cx="2747010" cy="711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200" dirty="0">
                    <a:solidFill>
                      <a:srgbClr val="4A556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Covariance created with Kronecker:</a:t>
                </a:r>
              </a:p>
              <a:p>
                <a:pPr marL="0" indent="0" algn="l">
                  <a:lnSpc>
                    <a:spcPts val="18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b="1" i="0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𝚺</m:t>
                      </m:r>
                      <m:r>
                        <a:rPr lang="en-US" sz="1200" b="0" i="1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𝑹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𝒔𝒑𝒂𝒄𝒆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IBM Plex Sans" pitchFamily="34" charset="-120"/>
                        </a:rPr>
                        <m:t>⨂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IBM Plex Sans" pitchFamily="34" charset="-120"/>
                            </a:rPr>
                            <m:t>𝑹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IBM Plex Sans" pitchFamily="34" charset="-120"/>
                            </a:rPr>
                            <m:t>𝒇𝒓𝒆𝒒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solidFill>
                    <a:srgbClr val="4A556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endParaRPr>
              </a:p>
              <a:p>
                <a:pPr marL="0" indent="0" algn="l">
                  <a:lnSpc>
                    <a:spcPts val="18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𝑹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𝑖𝑗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𝜌</m:t>
                          </m:r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200" dirty="0">
                  <a:solidFill>
                    <a:srgbClr val="4A556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endParaRPr>
              </a:p>
              <a:p>
                <a:pPr marL="0" indent="0" algn="l">
                  <a:lnSpc>
                    <a:spcPts val="1800"/>
                  </a:lnSpc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00" y="2020620"/>
                <a:ext cx="2747010" cy="711200"/>
              </a:xfrm>
              <a:prstGeom prst="rect">
                <a:avLst/>
              </a:prstGeom>
              <a:blipFill>
                <a:blip r:embed="rId4"/>
                <a:stretch>
                  <a:fillRect l="-3326" t="-3419" b="-3419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4"/>
          <p:cNvSpPr/>
          <p:nvPr/>
        </p:nvSpPr>
        <p:spPr>
          <a:xfrm>
            <a:off x="8712200" y="3333750"/>
            <a:ext cx="274701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the best case for the greedy heuristic: the assumed Σ is exactly correct.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Sampling the same subcarrier repeatedly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89618"/>
            <a:ext cx="7588250" cy="4116917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exp1b: mean estimated NMSE vs time step for fixed, random, active and a policy that re-measures subcarrier 15 every step, matched Gaussian Kronecker prior"/>
          <p:cNvPicPr>
            <a:picLocks noChangeAspect="1"/>
          </p:cNvPicPr>
          <p:nvPr/>
        </p:nvPicPr>
        <p:blipFill>
          <a:blip r:embed="rId2"/>
          <a:srcRect t="-2500" b="-2500"/>
          <a:stretch/>
        </p:blipFill>
        <p:spPr>
          <a:xfrm>
            <a:off x="1435100" y="1743075"/>
            <a:ext cx="6350000" cy="381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/>
              <p:nvPr/>
            </p:nvSpPr>
            <p:spPr>
              <a:xfrm>
                <a:off x="8712200" y="2020620"/>
                <a:ext cx="2747010" cy="711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200" dirty="0">
                    <a:solidFill>
                      <a:srgbClr val="4A5568"/>
                    </a:solidFill>
                    <a:latin typeface="IBM Plex Sans" pitchFamily="34" charset="0"/>
                    <a:ea typeface="IBM Plex Sans" pitchFamily="34" charset="-122"/>
                    <a:cs typeface="IBM Plex Sans" pitchFamily="34" charset="-120"/>
                  </a:rPr>
                  <a:t>Covariance created with Kronecker:</a:t>
                </a:r>
              </a:p>
              <a:p>
                <a:pPr marL="0" indent="0" algn="l">
                  <a:lnSpc>
                    <a:spcPts val="18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Σ</m:t>
                      </m:r>
                      <m:r>
                        <a:rPr lang="en-US" sz="1200" b="0" i="1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𝑠𝑝𝑎𝑐𝑒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IBM Plex Sans" pitchFamily="34" charset="-120"/>
                        </a:rPr>
                        <m:t>⨂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IBM Plex Sans" pitchFamily="34" charset="-12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IBM Plex Sans" pitchFamily="34" charset="-120"/>
                            </a:rPr>
                            <m:t>𝑓𝑟𝑒𝑞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4A556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endParaRPr>
              </a:p>
              <a:p>
                <a:pPr marL="0" indent="0" algn="l">
                  <a:lnSpc>
                    <a:spcPts val="18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𝑹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𝑖𝑗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4A5568"/>
                          </a:solidFill>
                          <a:latin typeface="Cambria Math" panose="02040503050406030204" pitchFamily="18" charset="0"/>
                          <a:ea typeface="IBM Plex Sans" pitchFamily="34" charset="-122"/>
                          <a:cs typeface="IBM Plex Sans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rgbClr val="4A5568"/>
                              </a:solidFill>
                              <a:latin typeface="Cambria Math" panose="02040503050406030204" pitchFamily="18" charset="0"/>
                              <a:ea typeface="IBM Plex Sans" pitchFamily="34" charset="-122"/>
                              <a:cs typeface="IBM Plex Sans" pitchFamily="34" charset="-120"/>
                            </a:rPr>
                            <m:t>𝜌</m:t>
                          </m:r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solidFill>
                                    <a:srgbClr val="4A5568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200" dirty="0">
                  <a:solidFill>
                    <a:srgbClr val="4A556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endParaRPr>
              </a:p>
              <a:p>
                <a:pPr marL="0" indent="0" algn="l">
                  <a:lnSpc>
                    <a:spcPts val="1800"/>
                  </a:lnSpc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00" y="2020620"/>
                <a:ext cx="2747010" cy="711200"/>
              </a:xfrm>
              <a:prstGeom prst="rect">
                <a:avLst/>
              </a:prstGeom>
              <a:blipFill>
                <a:blip r:embed="rId3"/>
                <a:stretch>
                  <a:fillRect l="-3326" t="-3419" b="-3419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3"/>
          <p:cNvSpPr/>
          <p:nvPr/>
        </p:nvSpPr>
        <p:spPr>
          <a:xfrm>
            <a:off x="8712200" y="3333750"/>
            <a:ext cx="274701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Repeating the same subcarrier barely lowers the MSE:</a:t>
            </a:r>
            <a:r>
              <a:rPr lang="en-US" sz="12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0.704 → 0.702 from 2 to 32 pilots.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12200" y="4146550"/>
            <a:ext cx="274701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SC 15's noise averages out (σ²/m); the other subcarriers are learned only via correlation.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50" dirty="0">
                <a:solidFill>
                  <a:srgbClr val="2B61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3 · WHAT THE EXPERIMENTS SHOW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84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Results on realistic TDL-A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28998"/>
            <a:ext cx="7639050" cy="3939117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exp3 TDL-A: true vs estimated MSE for fixed and active policies, Kronecker prior vs empirical prior"/>
          <p:cNvPicPr>
            <a:picLocks noChangeAspect="1"/>
          </p:cNvPicPr>
          <p:nvPr/>
        </p:nvPicPr>
        <p:blipFill>
          <a:blip r:embed="rId3"/>
          <a:srcRect t="-10417" b="-10417"/>
          <a:stretch/>
        </p:blipFill>
        <p:spPr>
          <a:xfrm>
            <a:off x="1143000" y="1957059"/>
            <a:ext cx="6985000" cy="368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12200" y="2626984"/>
            <a:ext cx="274701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Kronecker prior:</a:t>
            </a: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active still beats fixed, but a true-vs-estimated gap opens — the model's confidence no longer matches reality.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12200" y="3617584"/>
            <a:ext cx="274701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Empirical prior</a:t>
            </a: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(fit from TDL-A Monte Carlo draws) closes much of that gap.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712200" y="4170034"/>
            <a:ext cx="274701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with exp2: replacing a mismatched analytic prior with an empirical covariance estimate partially recovers active's advantage.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800" y="6273800"/>
            <a:ext cx="665456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new/experiments/exp3_true_vs_estimated_err.py · new/figures/exp1-6/exp3_tdl_err.png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gap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815975" y="5520491"/>
            <a:ext cx="10560050" cy="845803"/>
          </a:xfrm>
          <a:prstGeom prst="roundRect">
            <a:avLst>
              <a:gd name="adj" fmla="val 10858"/>
            </a:avLst>
          </a:prstGeom>
          <a:solidFill>
            <a:srgbClr val="FCEFE2"/>
          </a:solidFill>
          <a:ln w="6350">
            <a:solidFill>
              <a:srgbClr val="E8C9A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2" descr="Warning"/>
          <p:cNvPicPr>
            <a:picLocks noChangeAspect="1"/>
          </p:cNvPicPr>
          <p:nvPr/>
        </p:nvPicPr>
        <p:blipFill>
          <a:blip r:embed="rId3"/>
          <a:srcRect t="-599" b="-599"/>
          <a:stretch/>
        </p:blipFill>
        <p:spPr>
          <a:xfrm>
            <a:off x="991658" y="5617158"/>
            <a:ext cx="138046" cy="203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1305" y="5618114"/>
            <a:ext cx="10261568" cy="70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conclusions:</a:t>
            </a:r>
            <a:r>
              <a:rPr lang="en-US" sz="1100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</a:p>
          <a:p>
            <a:pPr marL="171450" indent="-171450" algn="l">
              <a:lnSpc>
                <a:spcPts val="1540"/>
              </a:lnSpc>
              <a:buFontTx/>
              <a:buChar char="-"/>
            </a:pPr>
            <a:r>
              <a:rPr lang="en-US" sz="1100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 </a:t>
            </a:r>
            <a:r>
              <a:rPr lang="en-US" sz="1100" b="1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matched prior</a:t>
            </a:r>
            <a:r>
              <a:rPr lang="en-US" sz="1100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active selection is better.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8A4A1E"/>
                </a:solidFill>
                <a:latin typeface="IBM Plex Sans" pitchFamily="34" charset="0"/>
              </a:rPr>
              <a:t> </a:t>
            </a:r>
            <a:r>
              <a:rPr lang="en-IL" sz="1100" dirty="0">
                <a:solidFill>
                  <a:srgbClr val="8A4A1E"/>
                </a:solidFill>
                <a:latin typeface="IBM Plex Sans" pitchFamily="34" charset="0"/>
              </a:rPr>
              <a:t>The oracle picks based on one lucky-or-unlucky realized noise draw per candidate, while </a:t>
            </a:r>
            <a:r>
              <a:rPr lang="en-US" sz="1100" b="1" dirty="0">
                <a:solidFill>
                  <a:srgbClr val="8A4A1E"/>
                </a:solidFill>
                <a:latin typeface="IBM Plex Sans" pitchFamily="34" charset="0"/>
              </a:rPr>
              <a:t>active</a:t>
            </a:r>
            <a:r>
              <a:rPr lang="en-IL" sz="1100" b="1" dirty="0">
                <a:solidFill>
                  <a:srgbClr val="8A4A1E"/>
                </a:solidFill>
                <a:latin typeface="IBM Plex Sans" pitchFamily="34" charset="0"/>
              </a:rPr>
              <a:t> picks based on noise-independent </a:t>
            </a:r>
            <a:r>
              <a:rPr lang="en-IL" sz="1100" dirty="0">
                <a:solidFill>
                  <a:srgbClr val="8A4A1E"/>
                </a:solidFill>
                <a:latin typeface="IBM Plex Sans" pitchFamily="34" charset="0"/>
              </a:rPr>
              <a:t>expected information gain — so the oracle can occasionally get fooled by a lucky draw into picking a less informative subcarrier, while </a:t>
            </a:r>
            <a:r>
              <a:rPr lang="en-US" sz="1100" dirty="0">
                <a:solidFill>
                  <a:srgbClr val="8A4A1E"/>
                </a:solidFill>
                <a:latin typeface="IBM Plex Sans" pitchFamily="34" charset="0"/>
              </a:rPr>
              <a:t>active</a:t>
            </a:r>
            <a:r>
              <a:rPr lang="en-IL" sz="1100" dirty="0">
                <a:solidFill>
                  <a:srgbClr val="8A4A1E"/>
                </a:solidFill>
                <a:latin typeface="IBM Plex Sans" pitchFamily="34" charset="0"/>
              </a:rPr>
              <a:t> never can.</a:t>
            </a:r>
            <a:endParaRPr lang="en-US" sz="1100" dirty="0">
              <a:solidFill>
                <a:srgbClr val="8A4A1E"/>
              </a:solidFill>
              <a:latin typeface="IBM Plex Sans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061E75-EC86-9218-AA46-D348EE6B1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738" y="1473948"/>
            <a:ext cx="5672587" cy="3781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50" dirty="0">
                <a:solidFill>
                  <a:srgbClr val="2B61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4 · THE LEGACY CNN APPROACH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92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 learned 1-D CNN pilot allocator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56718"/>
            <a:ext cx="91567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CNN that predicts, for every candidate subcarrier, the error that piloting it would leave — then greedily picked the argmin.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1796" y="2522099"/>
            <a:ext cx="1079151" cy="1616886"/>
          </a:xfrm>
          <a:prstGeom prst="roundRect">
            <a:avLst>
              <a:gd name="adj" fmla="val 1160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5497" y="3258969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25072" y="2965814"/>
            <a:ext cx="752395" cy="738651"/>
          </a:xfrm>
          <a:prstGeom prst="roundRect">
            <a:avLst>
              <a:gd name="adj" fmla="val 1160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3550656" y="3240079"/>
            <a:ext cx="52537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CNN</a:t>
            </a:r>
            <a:endParaRPr lang="en-US" sz="1050" dirty="0"/>
          </a:p>
        </p:txBody>
      </p:sp>
      <p:pic>
        <p:nvPicPr>
          <p:cNvPr id="16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67733" y="3307841"/>
            <a:ext cx="304800" cy="1524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74133" y="2931343"/>
            <a:ext cx="2254250" cy="905404"/>
          </a:xfrm>
          <a:prstGeom prst="roundRect">
            <a:avLst>
              <a:gd name="adj" fmla="val 9819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3"/>
          <p:cNvSpPr/>
          <p:nvPr/>
        </p:nvSpPr>
        <p:spPr>
          <a:xfrm>
            <a:off x="7513188" y="3155861"/>
            <a:ext cx="2034095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513188" y="3393322"/>
            <a:ext cx="203409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DCEA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most informative subcarrier</a:t>
            </a:r>
            <a:endParaRPr lang="en-US" sz="950" dirty="0"/>
          </a:p>
        </p:txBody>
      </p:sp>
      <p:sp>
        <p:nvSpPr>
          <p:cNvPr id="36" name="Google Shape;114;p27">
            <a:extLst>
              <a:ext uri="{FF2B5EF4-FFF2-40B4-BE49-F238E27FC236}">
                <a16:creationId xmlns:a16="http://schemas.microsoft.com/office/drawing/2014/main" id="{11F73275-7EFC-4EE9-6E44-94086C65281D}"/>
              </a:ext>
            </a:extLst>
          </p:cNvPr>
          <p:cNvSpPr/>
          <p:nvPr/>
        </p:nvSpPr>
        <p:spPr>
          <a:xfrm>
            <a:off x="378933" y="3076438"/>
            <a:ext cx="1155600" cy="8907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CNN</a:t>
            </a:r>
            <a:endParaRPr sz="1400" b="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41" name="Google Shape;122;p27">
            <a:extLst>
              <a:ext uri="{FF2B5EF4-FFF2-40B4-BE49-F238E27FC236}">
                <a16:creationId xmlns:a16="http://schemas.microsoft.com/office/drawing/2014/main" id="{18668BDB-C1BC-5FCB-DC94-3219FA0332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229008"/>
              </p:ext>
            </p:extLst>
          </p:nvPr>
        </p:nvGraphicFramePr>
        <p:xfrm>
          <a:off x="5027727" y="2812601"/>
          <a:ext cx="208300" cy="1399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8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oogle Shape;114;p27">
                <a:extLst>
                  <a:ext uri="{FF2B5EF4-FFF2-40B4-BE49-F238E27FC236}">
                    <a16:creationId xmlns:a16="http://schemas.microsoft.com/office/drawing/2014/main" id="{56057190-E93F-C5AF-4E1D-F9869E61FDEA}"/>
                  </a:ext>
                </a:extLst>
              </p:cNvPr>
              <p:cNvSpPr/>
              <p:nvPr/>
            </p:nvSpPr>
            <p:spPr>
              <a:xfrm>
                <a:off x="5930973" y="3159288"/>
                <a:ext cx="894000" cy="387294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 b="0" i="0" u="none" strike="noStrike" cap="none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  <a:sym typeface="Georgi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u="none" strike="noStrike" cap="none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  <a:sym typeface="Georgia"/>
                            </a:rPr>
                            <m:t>arg</m:t>
                          </m:r>
                        </m:fName>
                        <m:e>
                          <m:r>
                            <a:rPr lang="en-US" sz="1400" b="0" i="1" u="none" strike="noStrike" cap="none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  <a:sym typeface="Georgia"/>
                            </a:rPr>
                            <m:t>𝑚𝑖𝑛</m:t>
                          </m:r>
                        </m:e>
                      </m:func>
                    </m:oMath>
                  </m:oMathPara>
                </a14:m>
                <a:endParaRPr lang="en-US" sz="1400" b="0" i="0" u="none" strike="noStrike" cap="none" dirty="0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mc:Choice>
        <mc:Fallback xmlns="">
          <p:sp>
            <p:nvSpPr>
              <p:cNvPr id="43" name="Google Shape;114;p27">
                <a:extLst>
                  <a:ext uri="{FF2B5EF4-FFF2-40B4-BE49-F238E27FC236}">
                    <a16:creationId xmlns:a16="http://schemas.microsoft.com/office/drawing/2014/main" id="{56057190-E93F-C5AF-4E1D-F9869E61F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973" y="3159288"/>
                <a:ext cx="894000" cy="3872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Google Shape;114;p27">
                <a:extLst>
                  <a:ext uri="{FF2B5EF4-FFF2-40B4-BE49-F238E27FC236}">
                    <a16:creationId xmlns:a16="http://schemas.microsoft.com/office/drawing/2014/main" id="{DB3A8C04-A553-0BFF-1E63-AA753741B876}"/>
                  </a:ext>
                </a:extLst>
              </p:cNvPr>
              <p:cNvSpPr/>
              <p:nvPr/>
            </p:nvSpPr>
            <p:spPr>
              <a:xfrm>
                <a:off x="4537909" y="2277681"/>
                <a:ext cx="1187936" cy="387294"/>
              </a:xfrm>
              <a:prstGeom prst="rect">
                <a:avLst/>
              </a:prstGeom>
              <a:noFill/>
              <a:ln w="2540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 b="0" i="0" u="none" strike="noStrike" cap="none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  <a:sym typeface="Georgi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u="none" strike="noStrike" cap="none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  <a:sym typeface="Georgia"/>
                            </a:rPr>
                            <m:t>log</m:t>
                          </m:r>
                        </m:fName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  <a:sym typeface="Georgia"/>
                            </a:rPr>
                            <m:t>𝑀𝑆𝐸</m:t>
                          </m:r>
                          <m:d>
                            <m:dPr>
                              <m:ctrlPr>
                                <a:rPr lang="en-US" sz="1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  <a:sym typeface="Georgi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  <a:sym typeface="Georgia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  <a:sym typeface="Georgia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Georgia"/>
                                          <a:cs typeface="Georgia"/>
                                          <a:sym typeface="Georgia"/>
                                        </a:rPr>
                                        <m:t>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  <a:sym typeface="Georgia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  <a:sym typeface="Georgia"/>
                                    </a:rPr>
                                    <m:t>+</m:t>
                                  </m:r>
                                  <m:r>
                                    <a:rPr lang="en-US" sz="1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  <a:sym typeface="Georgia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  <a:sym typeface="Georgia"/>
                                </a:rPr>
                                <m:t>,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  <a:sym typeface="Georgia"/>
                                </a:rPr>
                                <m:t>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b="0" i="0" u="none" strike="noStrike" cap="none" dirty="0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mc:Choice>
        <mc:Fallback>
          <p:sp>
            <p:nvSpPr>
              <p:cNvPr id="44" name="Google Shape;114;p27">
                <a:extLst>
                  <a:ext uri="{FF2B5EF4-FFF2-40B4-BE49-F238E27FC236}">
                    <a16:creationId xmlns:a16="http://schemas.microsoft.com/office/drawing/2014/main" id="{DB3A8C04-A553-0BFF-1E63-AA753741B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909" y="2277681"/>
                <a:ext cx="1187936" cy="387294"/>
              </a:xfrm>
              <a:prstGeom prst="rect">
                <a:avLst/>
              </a:prstGeom>
              <a:blipFill>
                <a:blip r:embed="rId5"/>
                <a:stretch>
                  <a:fillRect l="-13333" r="-1538"/>
                </a:stretch>
              </a:blipFill>
              <a:ln w="2540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Google Shape;76;p16">
                <a:extLst>
                  <a:ext uri="{FF2B5EF4-FFF2-40B4-BE49-F238E27FC236}">
                    <a16:creationId xmlns:a16="http://schemas.microsoft.com/office/drawing/2014/main" id="{0F44F338-F00F-F279-62BB-B67BA0799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1796" y="2628572"/>
                <a:ext cx="1039755" cy="14865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Aria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 b="1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>
                  <a:solidFill>
                    <a:schemeClr val="dk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 b="1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0" dirty="0">
                  <a:solidFill>
                    <a:schemeClr val="dk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ℐ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b="1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Georgia"/>
                              <a:cs typeface="Georgi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 dirty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Georgia"/>
                                      <a:cs typeface="Georgia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 b="1" i="1" dirty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Georgia"/>
                                  <a:cs typeface="Georgia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>
                  <a:solidFill>
                    <a:schemeClr val="dk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𝑡</m:t>
                      </m:r>
                      <m:r>
                        <a:rPr lang="en-US" sz="12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/</m:t>
                      </m:r>
                      <m:r>
                        <a:rPr lang="en-US" sz="12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Georgia"/>
                          <a:cs typeface="Georgia"/>
                        </a:rPr>
                        <m:t>𝑇</m:t>
                      </m:r>
                    </m:oMath>
                  </m:oMathPara>
                </a14:m>
                <a:endParaRPr lang="en-US" sz="1200" dirty="0">
                  <a:solidFill>
                    <a:schemeClr val="dk1"/>
                  </a:solidFill>
                </a:endParaRPr>
              </a:p>
              <a:p>
                <a:pPr marL="0" indent="0" algn="ctr">
                  <a:lnSpc>
                    <a:spcPct val="10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solidFill>
                    <a:schemeClr val="dk1"/>
                  </a:solidFill>
                </a:endParaRPr>
              </a:p>
              <a:p>
                <a:pPr marL="0" indent="0" algn="ctr">
                  <a:lnSpc>
                    <a:spcPct val="10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2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</m:func>
                    </m:oMath>
                  </m:oMathPara>
                </a14:m>
                <a:endParaRPr lang="en-US" sz="1200" dirty="0">
                  <a:solidFill>
                    <a:schemeClr val="dk1"/>
                  </a:solidFill>
                  <a:latin typeface="Georgia" panose="02040502050405020303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SzPct val="100000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Georgia" panose="02040502050405020303" pitchFamily="18" charset="0"/>
                  </a:rPr>
                  <a:t>Pilot friction</a:t>
                </a:r>
              </a:p>
            </p:txBody>
          </p:sp>
        </mc:Choice>
        <mc:Fallback>
          <p:sp>
            <p:nvSpPr>
              <p:cNvPr id="45" name="Google Shape;76;p16">
                <a:extLst>
                  <a:ext uri="{FF2B5EF4-FFF2-40B4-BE49-F238E27FC236}">
                    <a16:creationId xmlns:a16="http://schemas.microsoft.com/office/drawing/2014/main" id="{0F44F338-F00F-F279-62BB-B67BA0799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796" y="2628572"/>
                <a:ext cx="1039755" cy="1486513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Image 0" descr="arrow-right">
            <a:extLst>
              <a:ext uri="{FF2B5EF4-FFF2-40B4-BE49-F238E27FC236}">
                <a16:creationId xmlns:a16="http://schemas.microsoft.com/office/drawing/2014/main" id="{64E9E792-93A7-AF99-0395-987C678665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8471" y="3248129"/>
            <a:ext cx="304800" cy="152400"/>
          </a:xfrm>
          <a:prstGeom prst="rect">
            <a:avLst/>
          </a:prstGeom>
        </p:spPr>
      </p:pic>
      <p:pic>
        <p:nvPicPr>
          <p:cNvPr id="55" name="Image 2" descr="arrow-right">
            <a:extLst>
              <a:ext uri="{FF2B5EF4-FFF2-40B4-BE49-F238E27FC236}">
                <a16:creationId xmlns:a16="http://schemas.microsoft.com/office/drawing/2014/main" id="{BF6B9B17-30FA-816B-A6EB-5710F540E6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66625" y="3269911"/>
            <a:ext cx="304800" cy="152400"/>
          </a:xfrm>
          <a:prstGeom prst="rect">
            <a:avLst/>
          </a:prstGeom>
        </p:spPr>
      </p:pic>
      <p:sp>
        <p:nvSpPr>
          <p:cNvPr id="56" name="archCap">
            <a:extLst>
              <a:ext uri="{FF2B5EF4-FFF2-40B4-BE49-F238E27FC236}">
                <a16:creationId xmlns:a16="http://schemas.microsoft.com/office/drawing/2014/main" id="{70197E65-862F-9ED1-F007-D6054EB1A435}"/>
              </a:ext>
            </a:extLst>
          </p:cNvPr>
          <p:cNvSpPr txBox="1"/>
          <p:nvPr/>
        </p:nvSpPr>
        <p:spPr>
          <a:xfrm>
            <a:off x="1731796" y="5035481"/>
            <a:ext cx="761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US" sz="1300" b="1" i="0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1-D CNN along the subcarrier axis</a:t>
            </a:r>
          </a:p>
        </p:txBody>
      </p:sp>
      <p:cxnSp>
        <p:nvCxnSpPr>
          <p:cNvPr id="57" name="a401">
            <a:extLst>
              <a:ext uri="{FF2B5EF4-FFF2-40B4-BE49-F238E27FC236}">
                <a16:creationId xmlns:a16="http://schemas.microsoft.com/office/drawing/2014/main" id="{A5D78389-30D6-114E-6BB3-07FF9049F795}"/>
              </a:ext>
            </a:extLst>
          </p:cNvPr>
          <p:cNvCxnSpPr/>
          <p:nvPr/>
        </p:nvCxnSpPr>
        <p:spPr>
          <a:xfrm>
            <a:off x="3101796" y="5725481"/>
            <a:ext cx="160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58" name="a402">
            <a:extLst>
              <a:ext uri="{FF2B5EF4-FFF2-40B4-BE49-F238E27FC236}">
                <a16:creationId xmlns:a16="http://schemas.microsoft.com/office/drawing/2014/main" id="{3C4F5750-F6FA-E1F0-0A0E-C1971F0149BC}"/>
              </a:ext>
            </a:extLst>
          </p:cNvPr>
          <p:cNvCxnSpPr/>
          <p:nvPr/>
        </p:nvCxnSpPr>
        <p:spPr>
          <a:xfrm>
            <a:off x="4671796" y="5725481"/>
            <a:ext cx="160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59" name="a403">
            <a:extLst>
              <a:ext uri="{FF2B5EF4-FFF2-40B4-BE49-F238E27FC236}">
                <a16:creationId xmlns:a16="http://schemas.microsoft.com/office/drawing/2014/main" id="{70292FD0-D1EF-FB4C-AEFA-BAD66AF254DC}"/>
              </a:ext>
            </a:extLst>
          </p:cNvPr>
          <p:cNvCxnSpPr/>
          <p:nvPr/>
        </p:nvCxnSpPr>
        <p:spPr>
          <a:xfrm>
            <a:off x="6241796" y="5725481"/>
            <a:ext cx="160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60" name="a404">
            <a:extLst>
              <a:ext uri="{FF2B5EF4-FFF2-40B4-BE49-F238E27FC236}">
                <a16:creationId xmlns:a16="http://schemas.microsoft.com/office/drawing/2014/main" id="{77D44A63-9C8A-A706-7A35-FF94F9D104F5}"/>
              </a:ext>
            </a:extLst>
          </p:cNvPr>
          <p:cNvCxnSpPr/>
          <p:nvPr/>
        </p:nvCxnSpPr>
        <p:spPr>
          <a:xfrm>
            <a:off x="7811796" y="5725481"/>
            <a:ext cx="160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61" name="blk405">
            <a:extLst>
              <a:ext uri="{FF2B5EF4-FFF2-40B4-BE49-F238E27FC236}">
                <a16:creationId xmlns:a16="http://schemas.microsoft.com/office/drawing/2014/main" id="{6EC6B139-0EED-CC3B-A6B9-3FFAB830CE3A}"/>
              </a:ext>
            </a:extLst>
          </p:cNvPr>
          <p:cNvSpPr/>
          <p:nvPr/>
        </p:nvSpPr>
        <p:spPr>
          <a:xfrm>
            <a:off x="1731796" y="5395481"/>
            <a:ext cx="1330000" cy="6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txBody>
          <a:bodyPr spcFirstLastPara="1" wrap="square" lIns="36000" tIns="18000" rIns="36000" bIns="1800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Input</a:t>
            </a:r>
          </a:p>
          <a:p>
            <a:pPr algn="ctr">
              <a:buNone/>
            </a:pPr>
            <a:r>
              <a:rPr lang="en-US" sz="950" b="0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7 × 32</a:t>
            </a:r>
          </a:p>
        </p:txBody>
      </p:sp>
      <p:sp>
        <p:nvSpPr>
          <p:cNvPr id="62" name="blk406">
            <a:extLst>
              <a:ext uri="{FF2B5EF4-FFF2-40B4-BE49-F238E27FC236}">
                <a16:creationId xmlns:a16="http://schemas.microsoft.com/office/drawing/2014/main" id="{A1C1B457-5E0E-964B-89BC-90173B345027}"/>
              </a:ext>
            </a:extLst>
          </p:cNvPr>
          <p:cNvSpPr/>
          <p:nvPr/>
        </p:nvSpPr>
        <p:spPr>
          <a:xfrm>
            <a:off x="3301796" y="5395481"/>
            <a:ext cx="1330000" cy="660000"/>
          </a:xfrm>
          <a:prstGeom prst="roundRect">
            <a:avLst>
              <a:gd name="adj" fmla="val 9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6000" tIns="18000" rIns="36000" bIns="1800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Conv1d</a:t>
            </a:r>
          </a:p>
          <a:p>
            <a:pPr algn="ctr">
              <a:buNone/>
            </a:pPr>
            <a:r>
              <a:rPr lang="en-US" sz="95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 = 5</a:t>
            </a:r>
          </a:p>
        </p:txBody>
      </p:sp>
      <p:sp>
        <p:nvSpPr>
          <p:cNvPr id="63" name="blk407">
            <a:extLst>
              <a:ext uri="{FF2B5EF4-FFF2-40B4-BE49-F238E27FC236}">
                <a16:creationId xmlns:a16="http://schemas.microsoft.com/office/drawing/2014/main" id="{E55F3449-F535-B79C-54C2-21BD3975BE56}"/>
              </a:ext>
            </a:extLst>
          </p:cNvPr>
          <p:cNvSpPr/>
          <p:nvPr/>
        </p:nvSpPr>
        <p:spPr>
          <a:xfrm>
            <a:off x="4871796" y="5395481"/>
            <a:ext cx="1330000" cy="660000"/>
          </a:xfrm>
          <a:prstGeom prst="roundRect">
            <a:avLst>
              <a:gd name="adj" fmla="val 9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6000" tIns="18000" rIns="36000" bIns="1800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Conv1d</a:t>
            </a:r>
          </a:p>
          <a:p>
            <a:pPr algn="ctr">
              <a:buNone/>
            </a:pPr>
            <a:r>
              <a:rPr lang="en-US" sz="95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 = 5</a:t>
            </a:r>
          </a:p>
        </p:txBody>
      </p:sp>
      <p:sp>
        <p:nvSpPr>
          <p:cNvPr id="64" name="blk408">
            <a:extLst>
              <a:ext uri="{FF2B5EF4-FFF2-40B4-BE49-F238E27FC236}">
                <a16:creationId xmlns:a16="http://schemas.microsoft.com/office/drawing/2014/main" id="{19B69F48-D20E-7AE3-A4A6-14E4D96D870D}"/>
              </a:ext>
            </a:extLst>
          </p:cNvPr>
          <p:cNvSpPr/>
          <p:nvPr/>
        </p:nvSpPr>
        <p:spPr>
          <a:xfrm>
            <a:off x="6441796" y="5395481"/>
            <a:ext cx="1330000" cy="660000"/>
          </a:xfrm>
          <a:prstGeom prst="roundRect">
            <a:avLst>
              <a:gd name="adj" fmla="val 9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6000" tIns="18000" rIns="36000" bIns="1800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Conv1d</a:t>
            </a:r>
          </a:p>
          <a:p>
            <a:pPr algn="ctr">
              <a:buNone/>
            </a:pPr>
            <a:r>
              <a:rPr lang="en-US" sz="95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 = 3</a:t>
            </a:r>
          </a:p>
        </p:txBody>
      </p:sp>
      <p:sp>
        <p:nvSpPr>
          <p:cNvPr id="65" name="blk409">
            <a:extLst>
              <a:ext uri="{FF2B5EF4-FFF2-40B4-BE49-F238E27FC236}">
                <a16:creationId xmlns:a16="http://schemas.microsoft.com/office/drawing/2014/main" id="{26FFA7CB-B185-FA89-7BF4-E1176F73494C}"/>
              </a:ext>
            </a:extLst>
          </p:cNvPr>
          <p:cNvSpPr/>
          <p:nvPr/>
        </p:nvSpPr>
        <p:spPr>
          <a:xfrm>
            <a:off x="8011796" y="5395481"/>
            <a:ext cx="1330000" cy="6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txBody>
          <a:bodyPr spcFirstLastPara="1" wrap="square" lIns="36000" tIns="18000" rIns="36000" bIns="1800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Output</a:t>
            </a:r>
          </a:p>
          <a:p>
            <a:pPr algn="ctr">
              <a:buNone/>
            </a:pPr>
            <a:r>
              <a:rPr lang="en-US" sz="950" b="0" dirty="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32</a:t>
            </a:r>
          </a:p>
        </p:txBody>
      </p:sp>
      <p:sp>
        <p:nvSpPr>
          <p:cNvPr id="66" name="archNote">
            <a:extLst>
              <a:ext uri="{FF2B5EF4-FFF2-40B4-BE49-F238E27FC236}">
                <a16:creationId xmlns:a16="http://schemas.microsoft.com/office/drawing/2014/main" id="{BADDC5EE-74B9-C99E-4CC7-C254579A3579}"/>
              </a:ext>
            </a:extLst>
          </p:cNvPr>
          <p:cNvSpPr txBox="1"/>
          <p:nvPr/>
        </p:nvSpPr>
        <p:spPr>
          <a:xfrm>
            <a:off x="1731796" y="6145481"/>
            <a:ext cx="761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sym typeface="Georgia"/>
              </a:rPr>
              <a:t>GroupNorm + GELU between layers, ending in 1×1 convolutions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It outperformed every baseline tested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587698"/>
            <a:ext cx="7385050" cy="4066117"/>
          </a:xfrm>
          <a:prstGeom prst="roundRect">
            <a:avLst>
              <a:gd name="adj" fmla="val 242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TDL-A MSE across time steps for fixed, random, coherence, active, and CNN policies"/>
          <p:cNvPicPr>
            <a:picLocks noChangeAspect="1"/>
          </p:cNvPicPr>
          <p:nvPr/>
        </p:nvPicPr>
        <p:blipFill>
          <a:blip r:embed="rId3"/>
          <a:srcRect t="-1471" b="-1471"/>
          <a:stretch/>
        </p:blipFill>
        <p:spPr>
          <a:xfrm>
            <a:off x="1270000" y="1715759"/>
            <a:ext cx="6477000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2289510"/>
            <a:ext cx="300863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Final-step mean MSE, 250 Monte Carlo TDL-A channels: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70900" y="2822910"/>
          <a:ext cx="2908300" cy="2129102"/>
        </p:xfrm>
        <a:graphic>
          <a:graphicData uri="http://schemas.openxmlformats.org/drawingml/2006/table">
            <a:tbl>
              <a:tblPr/>
              <a:tblGrid>
                <a:gridCol w="133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293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Policy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 MSE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vs. Active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3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CNN (ours)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0.00163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≈1.6× better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0.00258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0.00272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0.00322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Coherence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0.00327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8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2800" y="6273800"/>
            <a:ext cx="49464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Final_Presentation - Gilead ans Tal.pptx (legacy old/ framework)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But its gains were never stress-tested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428093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73876"/>
            <a:ext cx="203200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3800" y="1568847"/>
            <a:ext cx="10185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scenario: only TDL-A fading tested — no prior-mismatch, non-Gaussian, low-rank or block-cluster stress tests like exp1–9.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2800" y="1925042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1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70832"/>
            <a:ext cx="2032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3800" y="2065803"/>
            <a:ext cx="7647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SNR point — performance at other SNRs is unknown.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12800" y="2421998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2"/>
          <p:cNvSpPr/>
          <p:nvPr/>
        </p:nvSpPr>
        <p:spPr>
          <a:xfrm>
            <a:off x="812800" y="4117119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B61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motivates revisiting pilot placement with a method designed for cross-scenario robustness from the start.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8FDE-5DB1-B047-CD30-3387EF03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70F4A6-7004-014A-B3C4-B102DAD7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Optional datasets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44DB36-EC3F-9234-A668-6BED57EEDD83}"/>
              </a:ext>
            </a:extLst>
          </p:cNvPr>
          <p:cNvSpPr/>
          <p:nvPr/>
        </p:nvSpPr>
        <p:spPr>
          <a:xfrm>
            <a:off x="812800" y="1428093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0F591B-7489-9236-1F4E-B529F689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20" y="4300678"/>
            <a:ext cx="7630160" cy="2435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2DF222-6D9F-AF87-804F-7D28EF40F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147"/>
          <a:stretch>
            <a:fillRect/>
          </a:stretch>
        </p:blipFill>
        <p:spPr>
          <a:xfrm>
            <a:off x="2280920" y="1609073"/>
            <a:ext cx="8225926" cy="2435834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98E141FD-CE62-84A6-709A-B678442731D6}"/>
              </a:ext>
            </a:extLst>
          </p:cNvPr>
          <p:cNvSpPr/>
          <p:nvPr/>
        </p:nvSpPr>
        <p:spPr>
          <a:xfrm>
            <a:off x="731520" y="1609073"/>
            <a:ext cx="2550160" cy="315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B61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Space-frequency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200" b="1" dirty="0">
              <a:solidFill>
                <a:srgbClr val="2B615D"/>
              </a:solidFill>
              <a:latin typeface="IBM Plex Sans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B615D"/>
                </a:solidFill>
                <a:latin typeface="IBM Plex Sans" pitchFamily="34" charset="0"/>
              </a:rPr>
              <a:t>Time-frequency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05229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36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150" dirty="0">
                <a:solidFill>
                  <a:srgbClr val="8FD0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 5 · PROPOSAL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65400"/>
            <a:ext cx="981075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0" i="0" dirty="0">
                <a:solidFill>
                  <a:srgbClr val="F5F3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Neither baseline is enough: the active policy needs a prior it can't have, and the CNN was never tested for the robustness this project's own experiments say matters.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4152900"/>
            <a:ext cx="882967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FD0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deep RL agent can optimize the real, long-horizon placement objective end-to-end — without a hand-coded score or a proxy training target.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MDP formulation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91047"/>
            <a:ext cx="2313517" cy="646377"/>
          </a:xfrm>
          <a:prstGeom prst="roundRect">
            <a:avLst>
              <a:gd name="adj" fmla="val 13754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39800" y="1530747"/>
            <a:ext cx="21213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39800" y="1746647"/>
            <a:ext cx="212130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DCEA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network</a:t>
            </a:r>
            <a:endParaRPr lang="en-US" sz="85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5217" y="1650740"/>
            <a:ext cx="254000" cy="12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61292" y="1389993"/>
            <a:ext cx="2315633" cy="648494"/>
          </a:xfrm>
          <a:prstGeom prst="roundRect">
            <a:avLst>
              <a:gd name="adj" fmla="val 1321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3689350" y="1530747"/>
            <a:ext cx="21213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89350" y="1746647"/>
            <a:ext cx="212130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an unused subcarrier (masked)</a:t>
            </a:r>
            <a:endParaRPr lang="en-US" sz="85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1650740"/>
            <a:ext cx="254000" cy="127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15075" y="1389993"/>
            <a:ext cx="2315633" cy="648494"/>
          </a:xfrm>
          <a:prstGeom prst="roundRect">
            <a:avLst>
              <a:gd name="adj" fmla="val 1321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6443133" y="1530747"/>
            <a:ext cx="21213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43133" y="1746647"/>
            <a:ext cx="212130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measures &amp; updates state</a:t>
            </a:r>
            <a:endParaRPr lang="en-US" sz="85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2784" y="1650740"/>
            <a:ext cx="254000" cy="127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065684" y="1391047"/>
            <a:ext cx="2313517" cy="646377"/>
          </a:xfrm>
          <a:prstGeom prst="roundRect">
            <a:avLst>
              <a:gd name="adj" fmla="val 13754"/>
            </a:avLst>
          </a:prstGeom>
          <a:solidFill>
            <a:srgbClr val="B35F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1"/>
          <p:cNvSpPr/>
          <p:nvPr/>
        </p:nvSpPr>
        <p:spPr>
          <a:xfrm>
            <a:off x="9192684" y="1530747"/>
            <a:ext cx="21213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7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Reward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192684" y="1746647"/>
            <a:ext cx="212130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F8E6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Δ true NMSE (training only)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815975" y="2552836"/>
            <a:ext cx="5187950" cy="1317757"/>
          </a:xfrm>
          <a:prstGeom prst="roundRect">
            <a:avLst>
              <a:gd name="adj" fmla="val 6505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5"/>
          <p:cNvSpPr/>
          <p:nvPr/>
        </p:nvSpPr>
        <p:spPr>
          <a:xfrm>
            <a:off x="982133" y="2718991"/>
            <a:ext cx="5001302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— built only from Σ-free quantities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93944" y="2956458"/>
            <a:ext cx="4985300" cy="773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889" indent="-127889" algn="l">
              <a:lnSpc>
                <a:spcPts val="1473"/>
              </a:lnSpc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Pilots-used mask</a:t>
            </a:r>
            <a:endParaRPr lang="en-US" sz="950" dirty="0"/>
          </a:p>
          <a:p>
            <a:pPr marL="127889" indent="-127889" algn="l">
              <a:lnSpc>
                <a:spcPts val="1473"/>
              </a:lnSpc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|ĥ| magnitude (Σ-free estimate)</a:t>
            </a:r>
            <a:endParaRPr lang="en-US" sz="950" dirty="0"/>
          </a:p>
          <a:p>
            <a:pPr marL="127889" indent="-127889" algn="l">
              <a:lnSpc>
                <a:spcPts val="1473"/>
              </a:lnSpc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model-free measurement residual</a:t>
            </a:r>
            <a:endParaRPr lang="en-US" sz="950" dirty="0"/>
          </a:p>
          <a:p>
            <a:pPr marL="127889" indent="-127889" algn="l">
              <a:lnSpc>
                <a:spcPts val="1473"/>
              </a:lnSpc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SNR · pilots-used fraction</a:t>
            </a:r>
            <a:endParaRPr lang="en-US" sz="950" dirty="0"/>
          </a:p>
        </p:txBody>
      </p:sp>
      <p:pic>
        <p:nvPicPr>
          <p:cNvPr id="23" name="Image 3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4233" y="2729774"/>
            <a:ext cx="165100" cy="1651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95534" y="2718991"/>
            <a:ext cx="1617980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Deliberately excluded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354233" y="2969158"/>
            <a:ext cx="5001302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3"/>
              </a:lnSpc>
              <a:buNone/>
            </a:pPr>
            <a:r>
              <a:rPr lang="en-US" sz="950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J(k) and the posterior block-trace both require an assumed Σ — exactly what deployment doesn't have. Getting ĥ and the residual from a Σ-free estimator (not today's LMMSE posterior) is an open implementation question.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Open research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779917"/>
            <a:ext cx="9810750" cy="251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u="sng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data: which channels?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properties to have: </a:t>
            </a:r>
          </a:p>
          <a:p>
            <a:pPr marL="171450" indent="-171450" algn="l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to learn. </a:t>
            </a:r>
          </a:p>
          <a:p>
            <a:pPr marL="171450" indent="-171450" algn="l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Smoothness. </a:t>
            </a:r>
          </a:p>
          <a:p>
            <a:pPr marL="171450" indent="-171450" algn="l">
              <a:lnSpc>
                <a:spcPts val="1800"/>
              </a:lnSpc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4A5568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algn="l">
              <a:lnSpc>
                <a:spcPts val="1800"/>
              </a:lnSpc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Important to remember: 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every subcarrier is equally informative, the active-vs-fixed gap vanishes and there is nothing to learn from.</a:t>
            </a:r>
          </a:p>
          <a:p>
            <a:pPr algn="l">
              <a:lnSpc>
                <a:spcPts val="1800"/>
              </a:lnSpc>
            </a:pPr>
            <a:endParaRPr lang="en-US" sz="1200" dirty="0">
              <a:solidFill>
                <a:srgbClr val="4A5568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algn="l">
              <a:lnSpc>
                <a:spcPts val="1800"/>
              </a:lnSpc>
            </a:pPr>
            <a:r>
              <a:rPr lang="en-US" sz="1200" b="1" u="sng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 free design: how to update a wrong initial prior?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agents indirectly learns the prior – how to change the covariance along the way? 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Model-based solutions.</a:t>
            </a:r>
          </a:p>
          <a:p>
            <a:pPr algn="l">
              <a:lnSpc>
                <a:spcPts val="1800"/>
              </a:lnSpc>
            </a:pPr>
            <a:endParaRPr lang="en-US" sz="1200" dirty="0">
              <a:solidFill>
                <a:srgbClr val="4A5568"/>
              </a:solidFill>
              <a:latin typeface="IBM Plex Sans" pitchFamily="34" charset="0"/>
            </a:endParaRPr>
          </a:p>
          <a:p>
            <a:pPr algn="l">
              <a:lnSpc>
                <a:spcPts val="1800"/>
              </a:lnSpc>
            </a:pPr>
            <a:endParaRPr lang="en-US" sz="1200" b="1" u="sng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Training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53493"/>
            <a:ext cx="2303992" cy="682823"/>
          </a:xfrm>
          <a:prstGeom prst="roundRect">
            <a:avLst>
              <a:gd name="adj" fmla="val 125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44033" y="1606947"/>
            <a:ext cx="21093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Scenario registry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44033" y="1822847"/>
            <a:ext cx="2109311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versioned, checked-in config</a:t>
            </a:r>
            <a:endParaRPr lang="en-US" sz="9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2042" y="1725017"/>
            <a:ext cx="266700" cy="139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70817" y="1453493"/>
            <a:ext cx="2303992" cy="682823"/>
          </a:xfrm>
          <a:prstGeom prst="roundRect">
            <a:avLst>
              <a:gd name="adj" fmla="val 125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3698875" y="1606947"/>
            <a:ext cx="21093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Simulator (new/)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98875" y="1822847"/>
            <a:ext cx="2109311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environment, not a fixed log</a:t>
            </a:r>
            <a:endParaRPr lang="en-US" sz="9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6883" y="1725017"/>
            <a:ext cx="266700" cy="1397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25658" y="1453493"/>
            <a:ext cx="2303992" cy="682823"/>
          </a:xfrm>
          <a:prstGeom prst="roundRect">
            <a:avLst>
              <a:gd name="adj" fmla="val 125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6453717" y="1606947"/>
            <a:ext cx="21093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Rollout buffer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53717" y="1822847"/>
            <a:ext cx="2109311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cached episodes, for sweeps &amp; reuse</a:t>
            </a:r>
            <a:endParaRPr lang="en-US" sz="90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1725" y="1725017"/>
            <a:ext cx="266700" cy="1397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077325" y="1454547"/>
            <a:ext cx="2301875" cy="680707"/>
          </a:xfrm>
          <a:prstGeom prst="roundRect">
            <a:avLst>
              <a:gd name="adj" fmla="val 13060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1"/>
          <p:cNvSpPr/>
          <p:nvPr/>
        </p:nvSpPr>
        <p:spPr>
          <a:xfrm>
            <a:off x="9204325" y="1606947"/>
            <a:ext cx="21093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update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204325" y="1822847"/>
            <a:ext cx="2109311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CEA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MaskablePPO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12800" y="2368091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Repeats across sweeps — the same versioned scenario spec feeds every run, so results are comparable.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12800" y="2777666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mage 3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919016"/>
            <a:ext cx="177800" cy="177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2905720"/>
            <a:ext cx="7978378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 rollouts against the live simulator — the agent is never capped by a logged heuristic's coverage.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12800" y="3240360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17"/>
          <p:cNvSpPr/>
          <p:nvPr/>
        </p:nvSpPr>
        <p:spPr>
          <a:xfrm>
            <a:off x="812800" y="3700934"/>
            <a:ext cx="10566400" cy="0"/>
          </a:xfrm>
          <a:prstGeom prst="line">
            <a:avLst/>
          </a:prstGeom>
          <a:noFill/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4" name="Image 4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381710"/>
            <a:ext cx="177800" cy="1778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3368415"/>
            <a:ext cx="6103461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mismatched-prior parameterization is explicitly deferred to a later pass.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Algorithm &amp;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529693"/>
            <a:ext cx="5149850" cy="4309137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Too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6433" y="1810147"/>
            <a:ext cx="2794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433" y="2216547"/>
            <a:ext cx="47266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MaskablePPO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6433" y="2610247"/>
            <a:ext cx="4726601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sb3-contrib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6433" y="2923915"/>
            <a:ext cx="472660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action space shrinks every step — pick an unused subcarrier. MaskablePPO handles that natively, instead of hand-rolling action masking on top of a custom policy gradient.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26175" y="1529693"/>
            <a:ext cx="5149850" cy="4309137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1" descr="Setting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6634" y="1810147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634" y="2216547"/>
            <a:ext cx="47266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ClearML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06634" y="2610247"/>
            <a:ext cx="4726601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tracking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06634" y="2923915"/>
            <a:ext cx="472660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Tracks metrics and configs across scenario sweeps, versions cached rollouts, and orchestrates hyperparameter sweeps — the reproducibility layer this repo doesn't have yet.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0" i="0" dirty="0">
                <a:solidFill>
                  <a:srgbClr val="182230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Evaluation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475718"/>
            <a:ext cx="981075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trained policy wraps the existing </a:t>
            </a: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PilotPolicy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protocol, dropping directly into </a:t>
            </a: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run_until_threshold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an apples-to-apples comparison across every exp1–9 scenario family.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5975" y="2190093"/>
            <a:ext cx="2023930" cy="784820"/>
          </a:xfrm>
          <a:prstGeom prst="roundRect">
            <a:avLst>
              <a:gd name="adj" fmla="val 1092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624747" y="2368947"/>
            <a:ext cx="406321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98290" y="2619115"/>
            <a:ext cx="859234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uniform, blind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47855" y="2190093"/>
            <a:ext cx="2023996" cy="784820"/>
          </a:xfrm>
          <a:prstGeom prst="roundRect">
            <a:avLst>
              <a:gd name="adj" fmla="val 1092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727166" y="2368947"/>
            <a:ext cx="465376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54812" y="2619115"/>
            <a:ext cx="1410018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greedy, needs known 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79802" y="2190093"/>
            <a:ext cx="2023930" cy="784820"/>
          </a:xfrm>
          <a:prstGeom prst="roundRect">
            <a:avLst>
              <a:gd name="adj" fmla="val 1092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5649807" y="2368947"/>
            <a:ext cx="883920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8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CNN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53373" y="2619115"/>
            <a:ext cx="1076722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scenario 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14857" y="2193268"/>
            <a:ext cx="2034580" cy="778470"/>
          </a:xfrm>
          <a:prstGeom prst="roundRect">
            <a:avLst>
              <a:gd name="adj" fmla="val 10604"/>
            </a:avLst>
          </a:prstGeom>
          <a:solidFill>
            <a:srgbClr val="FCEFE2"/>
          </a:solidFill>
          <a:ln w="12700">
            <a:solidFill>
              <a:srgbClr val="B35F22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7908972" y="2377418"/>
            <a:ext cx="646351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51339" y="2627585"/>
            <a:ext cx="961549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be measured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357387" y="2186918"/>
            <a:ext cx="2021814" cy="791170"/>
          </a:xfrm>
          <a:prstGeom prst="roundRect">
            <a:avLst>
              <a:gd name="adj" fmla="val 11237"/>
            </a:avLst>
          </a:prstGeom>
          <a:solidFill>
            <a:srgbClr val="2B615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126762" y="2364718"/>
            <a:ext cx="482997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Oracle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67651" y="2614885"/>
            <a:ext cx="1401286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DCEA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 bound (slide 10)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2800" y="3232088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Increasing information used, left to right — the open question is how close the RL agent lands to the oracle without ever seeing Σ.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871465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5F3EE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Thank you.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71978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FD0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ptive Pilot Placement for OFDM Channel Estimation">
  <a:themeElements>
    <a:clrScheme name="Adaptive Pilot Placement for OFDM Channel Estimation">
      <a:dk1>
        <a:srgbClr val="182230"/>
      </a:dk1>
      <a:lt1>
        <a:srgbClr val="F7F5F0"/>
      </a:lt1>
      <a:dk2>
        <a:srgbClr val="505760"/>
      </a:dk2>
      <a:lt2>
        <a:srgbClr val="E1E0DD"/>
      </a:lt2>
      <a:accent1>
        <a:srgbClr val="2B615D"/>
      </a:accent1>
      <a:accent2>
        <a:srgbClr val="8FD0CA"/>
      </a:accent2>
      <a:accent3>
        <a:srgbClr val="8A4A1E"/>
      </a:accent3>
      <a:accent4>
        <a:srgbClr val="B35F22"/>
      </a:accent4>
      <a:accent5>
        <a:srgbClr val="6A7179"/>
      </a:accent5>
      <a:accent6>
        <a:srgbClr val="4A5568"/>
      </a:accent6>
      <a:hlink>
        <a:srgbClr val="0563C1"/>
      </a:hlink>
      <a:folHlink>
        <a:srgbClr val="954F72"/>
      </a:folHlink>
    </a:clrScheme>
    <a:fontScheme name="Adaptive Pilot Placement for OFDM Channel Estimation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1570</Words>
  <Application>Microsoft Office PowerPoint</Application>
  <PresentationFormat>Widescreen</PresentationFormat>
  <Paragraphs>248</Paragraphs>
  <Slides>22</Slides>
  <Notes>21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Cambria Math</vt:lpstr>
      <vt:lpstr>EB Garamond</vt:lpstr>
      <vt:lpstr>Georgia</vt:lpstr>
      <vt:lpstr>IBM Plex Sans</vt:lpstr>
      <vt:lpstr>Wingdings</vt:lpstr>
      <vt:lpstr>Adaptive Pilot Placement for OFDM Channel Estimation</vt:lpstr>
      <vt:lpstr>Adaptive Pilot Placement for OFDM Channel Estimation</vt:lpstr>
      <vt:lpstr>Agenda</vt:lpstr>
      <vt:lpstr>Why pilot placement matters</vt:lpstr>
      <vt:lpstr>System model</vt:lpstr>
      <vt:lpstr>Problem formulation</vt:lpstr>
      <vt:lpstr>LMMSE recap</vt:lpstr>
      <vt:lpstr>The active greedy policy</vt:lpstr>
      <vt:lpstr>Baseline: active beats fixed, on Gaussian matched prior</vt:lpstr>
      <vt:lpstr>Sampling the same subcarrier repeatedly</vt:lpstr>
      <vt:lpstr>Results on realistic TDL-A channels</vt:lpstr>
      <vt:lpstr>The gap</vt:lpstr>
      <vt:lpstr>A learned 1-D CNN pilot allocator</vt:lpstr>
      <vt:lpstr>It outperformed every baseline tested</vt:lpstr>
      <vt:lpstr>But its gains were never stress-tested</vt:lpstr>
      <vt:lpstr>Optional datasets</vt:lpstr>
      <vt:lpstr>Neither baseline is enough: the active policy needs a prior it can't have, and the CNN was never tested for the robustness this project's own experiments say matters.</vt:lpstr>
      <vt:lpstr>MDP formulation</vt:lpstr>
      <vt:lpstr>Open research questions</vt:lpstr>
      <vt:lpstr>Training design</vt:lpstr>
      <vt:lpstr>Algorithm &amp; infrastructure</vt:lpstr>
      <vt:lpstr>Evaluation plan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Pilot Placement for OFDM Channel Estimation</dc:title>
  <dc:subject/>
  <dc:creator/>
  <cp:lastModifiedBy>טל פרדו</cp:lastModifiedBy>
  <cp:revision>14</cp:revision>
  <dcterms:created xsi:type="dcterms:W3CDTF">2026-10-12T18:34:36Z</dcterms:created>
  <dcterms:modified xsi:type="dcterms:W3CDTF">2026-10-20T12:50:45Z</dcterms:modified>
</cp:coreProperties>
</file>